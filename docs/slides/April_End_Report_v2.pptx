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各位老师、同学，下午好。这是我们 THU-BDC2026 四月阶段的完整复盘。从 3 月 15 日启动，到今天 W1 提交前，我们用 40 天走完 3 个阶段、4 次方法论跃迁。最终交付的是一个 213 天 rolling 上 t=+12 显著、跨平台可复现、赛规硬门槛稳定通过的 deterministic 主线。这次汇报约 10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这一页只有一件事：我们最终提交的 M10-3 配置，在 213 个交易日 rolling 上，5 日组合收益均值 +2.95%，相对 HS300 等权指数 t = +12.05，胜率 87%，相对赛方官方 baseline 超额 +1.64 个百分点。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这份复盘的真正论点不是：我们找到了最好的模型。而是：我们如何在层层叠加的不确定性下，持续做出基于证据的理性决策。每一次方法论切换，都由新证据驱动，而非主观偏好。这是我们认为最值得讲的故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这是我们 40 天的时间轴。从 Phase 1 本地 0.0642 开始，Phase 2 首次拿到 t = +4.78 的硬证据，Phase 3 切到 LGB-only 后 rolling 扩到 213 天、t = +12.05，Phase 4 是今天的 Risk Containment 补丁 M10-3，提交前的最后防守。这页最想说的：每次切换都由数据驱动，不是因为之前的方案不好，而是发现了更大的风险。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第一次跃迁的核心是方法论的工业化。左栏是 Phase 1 暴露的三个根本问题：本地分只在 30 天窗口测试、CUDA 非确定性、训练预算 6.3 小时没有多 seed 余量。右栏是 Phase 2 的重构：Qlib 标准因子 + 严格 CV + 三模型集成。87 天 rolling 首次拿到 t = +4.78 的统计显著证据。但这个版本也暴露了新的致命问题——下一页展开。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第二次跃迁是更艰难的决策——主动放弃当时最高分的方案。holdout 搜出的最优权重是 {LGB 0.1, MASTER 0.9, Mixer 0.0}，所谓的三模型 ensemble 实质是 MASTER 单模型在做主导，而 MASTER 跨 4060/5090/Windows 五次推理分差 0.17，直接违反赛规。决策：保留全部基础设施，只换模型层——用 LightGBM × 3 seeds 平均。代价是理论上限降低，收益是训练 47 倍加速 + 跨平台 MD5 完全一致。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四个维度的得失：训练时间 6.3 小时降到 8 分钟，47 倍加速；复现性从零到 Linux × 3 节点全部 MD5 一致；rolling 窗口从 87 天扩到 213 天，增加 2.5 倍；5 日收益从 +1.01% 升到 +2.41%，t 值从 4.78 升到 12.05。我们交出去的不是理论上限，而是伪集成的不稳健性——这是 net positive 的决策。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这是核心实证页。213 天全量 +2.95%，t = +12.05；2025 下半年是最强表现期 +2.97%，胜率 91%；近 90 天、60 天都稳定领先。唯独近 10 天 -0.06% 对比 HS300 +1.18% —— 这是大盘轮动下的风格错配，不是方法失效。这个发现直接驱动了下一页 Phase 4 的 Risk Containment 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4 只做一件事：在组合层加风险约束，不动模型。具体：先取 Top-10 候选，再贪心替换保证至少 3 只大盘。参数 MCAP_MIN_LARGE=3、MCAP_LARGE_Q=0.5。AB 结果：近 10 天 baseline -1.42%，M10-3 -0.31%，减损 1.11pp，幅度 78%。这是 W1 提交的核心差异点，也是跨 phase 工业化思维的一次验证：模型不变，组合层补风控。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这一页是赛规合规的硬证据。Golden MD5 是 f13034946...，训练双跑 73 个文件 bit-identical，跨 Linux/Windows 三节点推理 MD5 全部一致（已强制 LF 行尾），甚至 Phase 3 和 Phase 4 权重 MD5 不同，但 result.csv 字节级一致——这是 deterministic_top_k 量化到 1e-4 的 bonus。提交前最后一刻发现的最大风险：赛方 baseline data 是 12 列（缺估值），原版会崩。已在 init.sh 加 schema guard，缺列时 fallback 到 bundled 16 列数据。用 baseline 12 列 csv 真场景 B' 模拟测试通过，result.csv MD5 完全一致 = f13034946...。另外同机时间序列对比也已推翻 AVX-512 假说，跨节点 MD5 漂移风险大幅降低。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四条可迁移的经验：① 理论上限不等于可交付上限——放弃 0.1bp 换跨平台一致是净正收益；② 样本量决定置信度——213 天的 t=12 比 87 天的 t=5 更能服人；③ 模型层与组合层职责分离——近 10 天用组合层补风控即可减损 78%；④ 工程保障 ≥ 算法创新——每条 deterministic 措施都来自一次失败。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收尾：我们交付的不是最强的模型，而是在不确定性下做出最理性决策的方法论。213 天 +2.95%，t=+12.05，跨 3 节点 MD5 一致，代码已冻结，W1 提交 ready。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640080"/>
            <a:ext cx="10881360" cy="0"/>
          </a:xfrm>
          <a:prstGeom prst="line">
            <a:avLst/>
          </a:prstGeom>
          <a:ln w="9525">
            <a:solidFill>
              <a:srgbClr val="0F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34747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0F1C30"/>
                </a:solidFill>
                <a:latin typeface="Times New Roman"/>
              </a:rPr>
              <a:t>TSINGHUA BIG DATA CHALLENGE  ·  ISSUE N°1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34747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 i="0">
                <a:solidFill>
                  <a:srgbClr val="646B74"/>
                </a:solidFill>
                <a:latin typeface="Times New Roman"/>
              </a:rPr>
              <a:t>25 APRIL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972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B22234"/>
                </a:solidFill>
                <a:latin typeface="Times New Roman"/>
              </a:rPr>
              <a:t>AN INTERNAL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7200" b="1" i="0">
                <a:solidFill>
                  <a:srgbClr val="0A2E5C"/>
                </a:solidFill>
                <a:latin typeface="Times New Roman"/>
              </a:rPr>
              <a:t>From Baseline to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604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7200" b="1" i="0">
                <a:solidFill>
                  <a:srgbClr val="0A2E5C"/>
                </a:solidFill>
                <a:latin typeface="Times New Roman"/>
              </a:rPr>
              <a:t>Deterministic Mainline.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86200"/>
            <a:ext cx="731520" cy="381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069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0F1C30"/>
                </a:solidFill>
                <a:latin typeface="Microsoft YaHei"/>
              </a:rPr>
              <a:t>从 Baseline 到 Deterministic 主线的四十天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8006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646B74"/>
                </a:solidFill>
                <a:latin typeface="Times New Roman"/>
              </a:rPr>
              <a:t>A report on four methodological leaps, rigorous reproducibility,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646B74"/>
                </a:solidFill>
                <a:latin typeface="Times New Roman"/>
              </a:rPr>
              <a:t>and one defensive patch that landed on the eve of W1 submission.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" y="5989320"/>
            <a:ext cx="10881360" cy="0"/>
          </a:xfrm>
          <a:prstGeom prst="line">
            <a:avLst/>
          </a:prstGeom>
          <a:ln w="6350">
            <a:solidFill>
              <a:srgbClr val="0F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608076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646B74"/>
                </a:solidFill>
                <a:latin typeface="Times New Roman"/>
              </a:rPr>
              <a:t>MAINLINE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291072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0F1C30"/>
                </a:solidFill>
                <a:latin typeface="Times New Roman"/>
              </a:rPr>
              <a:t>LightGBM + DoubleEnsemble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608076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646B74"/>
                </a:solidFill>
                <a:latin typeface="Times New Roman"/>
              </a:rPr>
              <a:t>WINDOW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6291072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0F1C30"/>
                </a:solidFill>
                <a:latin typeface="Times New Roman"/>
              </a:rPr>
              <a:t>213 trading days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608076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646B74"/>
                </a:solidFill>
                <a:latin typeface="Times New Roman"/>
              </a:rPr>
              <a:t>t-STAT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6291072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0F1C30"/>
                </a:solidFill>
                <a:latin typeface="Times New Roman"/>
              </a:rPr>
              <a:t>+12.05   vs HS300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608076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646B74"/>
                </a:solidFill>
                <a:latin typeface="Times New Roman"/>
              </a:rPr>
              <a:t>vs BASELINE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6291072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0F1C30"/>
                </a:solidFill>
                <a:latin typeface="Times New Roman"/>
              </a:rPr>
              <a:t>+1.64 pp  (6-day)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6601968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1" i="0">
                <a:solidFill>
                  <a:srgbClr val="B22234"/>
                </a:solidFill>
                <a:latin typeface="Times New Roman"/>
              </a:rPr>
              <a:t>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57200"/>
            <a:ext cx="10972800" cy="9525"/>
          </a:xfrm>
          <a:prstGeom prst="rect">
            <a:avLst/>
          </a:prstGeom>
          <a:solidFill>
            <a:srgbClr val="0F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F1C30"/>
                </a:solidFill>
                <a:latin typeface="Times New Roman"/>
              </a:rPr>
              <a:t>I.  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828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6B74"/>
                </a:solidFill>
                <a:latin typeface="Microsoft YaHei"/>
              </a:rPr>
              <a:t>摘要  ·  核心数字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 i="0">
                <a:solidFill>
                  <a:srgbClr val="646B74"/>
                </a:solidFill>
                <a:latin typeface="Times New Roman"/>
              </a:rPr>
              <a:t/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6537960"/>
            <a:ext cx="10881360" cy="0"/>
          </a:xfrm>
          <a:prstGeom prst="line">
            <a:avLst/>
          </a:prstGeom>
          <a:ln w="6350">
            <a:solidFill>
              <a:srgbClr val="CFC3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646B74"/>
                </a:solidFill>
                <a:latin typeface="Times New Roman"/>
              </a:rPr>
              <a:t>THU-BDC2026  ·  feat/ensemble-v1  ·  April End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601968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1" i="0">
                <a:solidFill>
                  <a:srgbClr val="B22234"/>
                </a:solidFill>
                <a:latin typeface="Times New Roman"/>
              </a:rPr>
              <a:t>02 /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0058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22234"/>
                </a:solidFill>
                <a:latin typeface="Times New Roman"/>
              </a:rPr>
              <a:t>THE NUMBER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371600"/>
            <a:ext cx="73152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5000"/>
              </a:lnSpc>
            </a:pPr>
            <a:r>
              <a:rPr sz="18000" b="1" i="0">
                <a:solidFill>
                  <a:srgbClr val="0A2E5C"/>
                </a:solidFill>
                <a:latin typeface="Times New Roman"/>
              </a:rPr>
              <a:t>+2.95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169164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200" b="1" i="0">
                <a:solidFill>
                  <a:srgbClr val="B22234"/>
                </a:solidFill>
                <a:latin typeface="Times New Roman"/>
              </a:rPr>
              <a:t>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9319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0F1C30"/>
                </a:solidFill>
                <a:latin typeface="Times New Roman"/>
              </a:rPr>
              <a:t>Mean 5-day portfolio 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976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46B74"/>
                </a:solidFill>
                <a:latin typeface="Microsoft YaHei"/>
              </a:rPr>
              <a:t>213 个交易日 rolling 回测均值  ·  2025-06-03 ~ 2026-04-16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0" y="1371600"/>
            <a:ext cx="3474720" cy="0"/>
          </a:xfrm>
          <a:prstGeom prst="line">
            <a:avLst/>
          </a:prstGeom>
          <a:ln w="6350">
            <a:solidFill>
              <a:srgbClr val="CFC3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229600" y="155448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A2E5C"/>
                </a:solidFill>
                <a:latin typeface="Times New Roman"/>
              </a:rPr>
              <a:t>+12.05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3317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0F1C30"/>
                </a:solidFill>
                <a:latin typeface="Times New Roman"/>
              </a:rPr>
              <a:t>t-stat vs HS300 equal-weight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54203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46B74"/>
                </a:solidFill>
                <a:latin typeface="Microsoft YaHei"/>
              </a:rPr>
              <a:t>相对指数显著性 · p &lt; 0.0001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29600" y="2926080"/>
            <a:ext cx="3474720" cy="0"/>
          </a:xfrm>
          <a:prstGeom prst="line">
            <a:avLst/>
          </a:prstGeom>
          <a:ln w="6350">
            <a:solidFill>
              <a:srgbClr val="CFC3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229600" y="310896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A2E5C"/>
                </a:solidFill>
                <a:latin typeface="Times New Roman"/>
              </a:rPr>
              <a:t>+1.64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886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0F1C30"/>
                </a:solidFill>
                <a:latin typeface="Times New Roman"/>
              </a:rPr>
              <a:t>pp excess vs official baseline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409651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46B74"/>
                </a:solidFill>
                <a:latin typeface="Microsoft YaHei"/>
              </a:rPr>
              <a:t>超过赛方门槛 · 6 日样本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29600" y="4480560"/>
            <a:ext cx="3474720" cy="0"/>
          </a:xfrm>
          <a:prstGeom prst="line">
            <a:avLst/>
          </a:prstGeom>
          <a:ln w="6350">
            <a:solidFill>
              <a:srgbClr val="CFC3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229600" y="466344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A2E5C"/>
                </a:solidFill>
                <a:latin typeface="Times New Roman"/>
              </a:rPr>
              <a:t>87%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54406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0F1C30"/>
                </a:solidFill>
                <a:latin typeface="Times New Roman"/>
              </a:rPr>
              <a:t>win rate (portfolio &gt; 0)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565099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46B74"/>
                </a:solidFill>
                <a:latin typeface="Microsoft YaHei"/>
              </a:rPr>
              <a:t>胜率 · 全量 213 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57200"/>
            <a:ext cx="10972800" cy="9525"/>
          </a:xfrm>
          <a:prstGeom prst="rect">
            <a:avLst/>
          </a:prstGeom>
          <a:solidFill>
            <a:srgbClr val="0F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F1C30"/>
                </a:solidFill>
                <a:latin typeface="Times New Roman"/>
              </a:rPr>
              <a:t>II.  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828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6B74"/>
                </a:solidFill>
                <a:latin typeface="Microsoft YaHei"/>
              </a:rPr>
              <a:t>论点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 i="0">
                <a:solidFill>
                  <a:srgbClr val="646B74"/>
                </a:solidFill>
                <a:latin typeface="Times New Roman"/>
              </a:rPr>
              <a:t/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6537960"/>
            <a:ext cx="10881360" cy="0"/>
          </a:xfrm>
          <a:prstGeom prst="line">
            <a:avLst/>
          </a:prstGeom>
          <a:ln w="6350">
            <a:solidFill>
              <a:srgbClr val="CFC3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646B74"/>
                </a:solidFill>
                <a:latin typeface="Times New Roman"/>
              </a:rPr>
              <a:t>THU-BDC2026  ·  feat/ensemble-v1  ·  April End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601968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1" i="0">
                <a:solidFill>
                  <a:srgbClr val="B22234"/>
                </a:solidFill>
                <a:latin typeface="Times New Roman"/>
              </a:rPr>
              <a:t>03 /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1887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B22234"/>
                </a:solidFill>
                <a:latin typeface="Microsoft YaHei"/>
              </a:rPr>
              <a:t>这不是一个关于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 i="0">
                <a:solidFill>
                  <a:srgbClr val="646B74"/>
                </a:solidFill>
                <a:latin typeface="Microsoft YaHei"/>
              </a:rPr>
              <a:t>寻找最强模型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146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646B74"/>
                </a:solidFill>
                <a:latin typeface="Microsoft YaHei"/>
              </a:rPr>
              <a:t>的故事。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" y="2148840"/>
            <a:ext cx="6217920" cy="0"/>
          </a:xfrm>
          <a:prstGeom prst="line">
            <a:avLst/>
          </a:prstGeom>
          <a:ln w="25400">
            <a:solidFill>
              <a:srgbClr val="B222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35661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B22234"/>
                </a:solidFill>
                <a:latin typeface="Microsoft YaHei"/>
              </a:rPr>
              <a:t>而是一个关于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977639"/>
            <a:ext cx="11247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 i="0">
                <a:solidFill>
                  <a:srgbClr val="0A2E5C"/>
                </a:solidFill>
                <a:latin typeface="Microsoft YaHei"/>
              </a:rPr>
              <a:t>在不确定性中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92040"/>
            <a:ext cx="11247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 i="0">
                <a:solidFill>
                  <a:srgbClr val="0A2E5C"/>
                </a:solidFill>
                <a:latin typeface="Microsoft YaHei"/>
              </a:rPr>
              <a:t>持续做出理性决策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064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0A2E5C"/>
                </a:solidFill>
                <a:latin typeface="Microsoft YaHei"/>
              </a:rPr>
              <a:t>的故事。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630936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1">
                <a:solidFill>
                  <a:srgbClr val="646B74"/>
                </a:solidFill>
                <a:latin typeface="Times New Roman"/>
              </a:rPr>
              <a:t>rational decisions under compounding uncertainty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57200"/>
            <a:ext cx="10972800" cy="9525"/>
          </a:xfrm>
          <a:prstGeom prst="rect">
            <a:avLst/>
          </a:prstGeom>
          <a:solidFill>
            <a:srgbClr val="0F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F1C30"/>
                </a:solidFill>
                <a:latin typeface="Times New Roman"/>
              </a:rPr>
              <a:t>III.  TRAJECTORY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828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6B74"/>
                </a:solidFill>
                <a:latin typeface="Microsoft YaHei"/>
              </a:rPr>
              <a:t>轨迹  ·  四次跃迁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 i="0">
                <a:solidFill>
                  <a:srgbClr val="646B74"/>
                </a:solidFill>
                <a:latin typeface="Times New Roman"/>
              </a:rPr>
              <a:t>14 DAYS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6537960"/>
            <a:ext cx="10881360" cy="0"/>
          </a:xfrm>
          <a:prstGeom prst="line">
            <a:avLst/>
          </a:prstGeom>
          <a:ln w="6350">
            <a:solidFill>
              <a:srgbClr val="CFC3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646B74"/>
                </a:solidFill>
                <a:latin typeface="Times New Roman"/>
              </a:rPr>
              <a:t>THU-BDC2026  ·  feat/ensemble-v1  ·  April End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601968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1" i="0">
                <a:solidFill>
                  <a:srgbClr val="B22234"/>
                </a:solidFill>
                <a:latin typeface="Times New Roman"/>
              </a:rPr>
              <a:t>04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005840"/>
            <a:ext cx="38100" cy="109728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00584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B22234"/>
                </a:solidFill>
                <a:latin typeface="Times New Roman"/>
              </a:rPr>
              <a:t>FOUR METHODOLOGICAL LEAPS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389888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0F1C30"/>
                </a:solidFill>
                <a:latin typeface="Microsoft YaHei"/>
              </a:rPr>
              <a:t>三阶段 · 四次跃迁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" y="4114800"/>
            <a:ext cx="10881360" cy="0"/>
          </a:xfrm>
          <a:prstGeom prst="line">
            <a:avLst/>
          </a:prstGeom>
          <a:ln w="19050">
            <a:solidFill>
              <a:srgbClr val="0F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1899666" y="4023741"/>
            <a:ext cx="201168" cy="201168"/>
          </a:xfrm>
          <a:prstGeom prst="ellipse">
            <a:avLst/>
          </a:prstGeom>
          <a:solidFill>
            <a:srgbClr val="0A2E5C"/>
          </a:solidFill>
          <a:ln w="25400">
            <a:solidFill>
              <a:srgbClr val="FAF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20240"/>
            <a:ext cx="25374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B22234"/>
                </a:solidFill>
                <a:latin typeface="Times New Roman"/>
              </a:rPr>
              <a:t>PHASE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286000"/>
            <a:ext cx="25374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646B74"/>
                </a:solidFill>
                <a:latin typeface="Times New Roman"/>
              </a:rPr>
              <a:t>03 / 15 – 04 /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697480"/>
            <a:ext cx="25374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F1C30"/>
                </a:solidFill>
                <a:latin typeface="Times New Roman"/>
              </a:rPr>
              <a:t>Baseline</a:t>
            </a:r>
          </a:p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F1C30"/>
                </a:solidFill>
                <a:latin typeface="Times New Roman"/>
              </a:rPr>
              <a:t>Alignment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34840"/>
            <a:ext cx="25374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0F1C30"/>
                </a:solidFill>
                <a:latin typeface="Microsoft YaHei"/>
              </a:rPr>
              <a:t>StockTransformer 调参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892040"/>
            <a:ext cx="25374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0A2E5C"/>
                </a:solidFill>
                <a:latin typeface="Times New Roman"/>
              </a:rPr>
              <a:t>Local score  0.0642</a:t>
            </a:r>
          </a:p>
        </p:txBody>
      </p:sp>
      <p:sp>
        <p:nvSpPr>
          <p:cNvPr id="20" name="Oval 19"/>
          <p:cNvSpPr/>
          <p:nvPr/>
        </p:nvSpPr>
        <p:spPr>
          <a:xfrm>
            <a:off x="4620006" y="4023741"/>
            <a:ext cx="201168" cy="201168"/>
          </a:xfrm>
          <a:prstGeom prst="ellipse">
            <a:avLst/>
          </a:prstGeom>
          <a:solidFill>
            <a:srgbClr val="0A2E5C"/>
          </a:solidFill>
          <a:ln w="25400">
            <a:solidFill>
              <a:srgbClr val="FAF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51860" y="1920240"/>
            <a:ext cx="25374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B22234"/>
                </a:solidFill>
                <a:latin typeface="Times New Roman"/>
              </a:rPr>
              <a:t>PHASE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1860" y="2286000"/>
            <a:ext cx="25374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646B74"/>
                </a:solidFill>
                <a:latin typeface="Times New Roman"/>
              </a:rPr>
              <a:t>04 / 14 – 04 / 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1860" y="2697480"/>
            <a:ext cx="25374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F1C30"/>
                </a:solidFill>
                <a:latin typeface="Times New Roman"/>
              </a:rPr>
              <a:t>Ensemble</a:t>
            </a:r>
          </a:p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F1C30"/>
                </a:solidFill>
                <a:latin typeface="Times New Roman"/>
              </a:rPr>
              <a:t>Foundation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51860" y="4434840"/>
            <a:ext cx="25374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0F1C30"/>
                </a:solidFill>
                <a:latin typeface="Microsoft YaHei"/>
              </a:rPr>
              <a:t>三模型 Ensemble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51860" y="4892040"/>
            <a:ext cx="25374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0A2E5C"/>
                </a:solidFill>
                <a:latin typeface="Times New Roman"/>
              </a:rPr>
              <a:t>87 d rolling +1.01%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0A2E5C"/>
                </a:solidFill>
                <a:latin typeface="Times New Roman"/>
              </a:rPr>
              <a:t>t = +4.78</a:t>
            </a:r>
          </a:p>
        </p:txBody>
      </p:sp>
      <p:sp>
        <p:nvSpPr>
          <p:cNvPr id="26" name="Oval 25"/>
          <p:cNvSpPr/>
          <p:nvPr/>
        </p:nvSpPr>
        <p:spPr>
          <a:xfrm>
            <a:off x="7340346" y="4023741"/>
            <a:ext cx="201168" cy="201168"/>
          </a:xfrm>
          <a:prstGeom prst="ellipse">
            <a:avLst/>
          </a:prstGeom>
          <a:solidFill>
            <a:srgbClr val="0A2E5C"/>
          </a:solidFill>
          <a:ln w="25400">
            <a:solidFill>
              <a:srgbClr val="FAF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1920240"/>
            <a:ext cx="25374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B22234"/>
                </a:solidFill>
                <a:latin typeface="Times New Roman"/>
              </a:rPr>
              <a:t>PHASE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2286000"/>
            <a:ext cx="25374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646B74"/>
                </a:solidFill>
                <a:latin typeface="Times New Roman"/>
              </a:rPr>
              <a:t>04 / 22 – 04 / 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2200" y="2697480"/>
            <a:ext cx="25374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F1C30"/>
                </a:solidFill>
                <a:latin typeface="Times New Roman"/>
              </a:rPr>
              <a:t>Deterministic</a:t>
            </a:r>
          </a:p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F1C30"/>
                </a:solidFill>
                <a:latin typeface="Times New Roman"/>
              </a:rPr>
              <a:t>Core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4434840"/>
            <a:ext cx="25374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0F1C30"/>
                </a:solidFill>
                <a:latin typeface="Microsoft YaHei"/>
              </a:rPr>
              <a:t>LGB-only 主线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4892040"/>
            <a:ext cx="25374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0A2E5C"/>
                </a:solidFill>
                <a:latin typeface="Times New Roman"/>
              </a:rPr>
              <a:t>213 d +2.41%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0A2E5C"/>
                </a:solidFill>
                <a:latin typeface="Times New Roman"/>
              </a:rPr>
              <a:t>t = +12.05</a:t>
            </a:r>
          </a:p>
        </p:txBody>
      </p:sp>
      <p:sp>
        <p:nvSpPr>
          <p:cNvPr id="32" name="Oval 31"/>
          <p:cNvSpPr/>
          <p:nvPr/>
        </p:nvSpPr>
        <p:spPr>
          <a:xfrm>
            <a:off x="10060686" y="4023741"/>
            <a:ext cx="201168" cy="201168"/>
          </a:xfrm>
          <a:prstGeom prst="ellipse">
            <a:avLst/>
          </a:prstGeom>
          <a:solidFill>
            <a:srgbClr val="B22234"/>
          </a:solidFill>
          <a:ln w="25400">
            <a:solidFill>
              <a:srgbClr val="FAF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92540" y="1920240"/>
            <a:ext cx="25374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B22234"/>
                </a:solidFill>
                <a:latin typeface="Times New Roman"/>
              </a:rPr>
              <a:t>PHASE 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92540" y="2286000"/>
            <a:ext cx="25374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646B74"/>
                </a:solidFill>
                <a:latin typeface="Times New Roman"/>
              </a:rPr>
              <a:t>04 / 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92540" y="2697480"/>
            <a:ext cx="25374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F1C30"/>
                </a:solidFill>
                <a:latin typeface="Times New Roman"/>
              </a:rPr>
              <a:t>Risk</a:t>
            </a:r>
          </a:p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F1C30"/>
                </a:solidFill>
                <a:latin typeface="Times New Roman"/>
              </a:rPr>
              <a:t>Containment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92540" y="4434840"/>
            <a:ext cx="25374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0F1C30"/>
                </a:solidFill>
                <a:latin typeface="Microsoft YaHei"/>
              </a:rPr>
              <a:t>M10-3 提交补丁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92540" y="4892040"/>
            <a:ext cx="25374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0A2E5C"/>
                </a:solidFill>
                <a:latin typeface="Times New Roman"/>
              </a:rPr>
              <a:t>+2.95% · Δ30 +0.38 pp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40080" y="5989320"/>
            <a:ext cx="10881360" cy="0"/>
          </a:xfrm>
          <a:prstGeom prst="line">
            <a:avLst/>
          </a:prstGeom>
          <a:ln w="6350">
            <a:solidFill>
              <a:srgbClr val="CFC3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40080" y="6126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0F1C30"/>
                </a:solidFill>
                <a:latin typeface="Times New Roman"/>
              </a:rPr>
              <a:t>Every transition was driven by new evidence, never by intuition.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64008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46B74"/>
                </a:solidFill>
                <a:latin typeface="Microsoft YaHei"/>
              </a:rPr>
              <a:t>每一次切换都由新证据驱动，而非主观偏好。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57200"/>
            <a:ext cx="10972800" cy="9525"/>
          </a:xfrm>
          <a:prstGeom prst="rect">
            <a:avLst/>
          </a:prstGeom>
          <a:solidFill>
            <a:srgbClr val="0F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F1C30"/>
                </a:solidFill>
                <a:latin typeface="Times New Roman"/>
              </a:rPr>
              <a:t>IV.  FIRST LEAP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828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6B74"/>
                </a:solidFill>
                <a:latin typeface="Microsoft YaHei"/>
              </a:rPr>
              <a:t>第一次跃迁  ·  v1 →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 i="0">
                <a:solidFill>
                  <a:srgbClr val="646B74"/>
                </a:solidFill>
                <a:latin typeface="Times New Roman"/>
              </a:rPr>
              <a:t>Phase 1 → Phase 2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6537960"/>
            <a:ext cx="10881360" cy="0"/>
          </a:xfrm>
          <a:prstGeom prst="line">
            <a:avLst/>
          </a:prstGeom>
          <a:ln w="6350">
            <a:solidFill>
              <a:srgbClr val="CFC3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646B74"/>
                </a:solidFill>
                <a:latin typeface="Times New Roman"/>
              </a:rPr>
              <a:t>THU-BDC2026  ·  feat/ensemble-v1  ·  April End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601968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1" i="0">
                <a:solidFill>
                  <a:srgbClr val="B22234"/>
                </a:solidFill>
                <a:latin typeface="Times New Roman"/>
              </a:rPr>
              <a:t>05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005840"/>
            <a:ext cx="38100" cy="109728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00584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B22234"/>
                </a:solidFill>
                <a:latin typeface="Times New Roman"/>
              </a:rPr>
              <a:t>FROM TUNING TO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389888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0F1C30"/>
                </a:solidFill>
                <a:latin typeface="Microsoft YaHei"/>
              </a:rPr>
              <a:t>从「调参冲分」到「工业化方法论」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974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646B74"/>
                </a:solidFill>
                <a:latin typeface="Times New Roman"/>
              </a:rPr>
              <a:t>WHAT WAS WRONG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0080" y="3017520"/>
            <a:ext cx="5120640" cy="0"/>
          </a:xfrm>
          <a:prstGeom prst="line">
            <a:avLst/>
          </a:prstGeom>
          <a:ln w="9525">
            <a:solidFill>
              <a:srgbClr val="0F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0080" y="324612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0F1C30"/>
                </a:solidFill>
                <a:latin typeface="Microsoft YaHei"/>
              </a:rPr>
              <a:t>本地分仅 30 天窗口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63016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46B74"/>
                </a:solidFill>
                <a:latin typeface="Times New Roman"/>
              </a:rPr>
              <a:t>easily overfit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0690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0F1C30"/>
                </a:solidFill>
                <a:latin typeface="Microsoft YaHei"/>
              </a:rPr>
              <a:t>CUDA 非确定性 · 分差 0.17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45312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46B74"/>
                </a:solidFill>
                <a:latin typeface="Times New Roman"/>
              </a:rPr>
              <a:t>reproducibility violated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8920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0F1C30"/>
                </a:solidFill>
                <a:latin typeface="Microsoft YaHei"/>
              </a:rPr>
              <a:t>训练 6.3 h · 无多 seed 余量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27608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46B74"/>
                </a:solidFill>
                <a:latin typeface="Times New Roman"/>
              </a:rPr>
              <a:t>statistical fragility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26974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B22234"/>
                </a:solidFill>
                <a:latin typeface="Times New Roman"/>
              </a:rPr>
              <a:t>WHAT CHANGED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675120" y="3017520"/>
            <a:ext cx="5029200" cy="0"/>
          </a:xfrm>
          <a:prstGeom prst="line">
            <a:avLst/>
          </a:prstGeom>
          <a:ln w="9525">
            <a:solidFill>
              <a:srgbClr val="B222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675120" y="324612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0A2E5C"/>
                </a:solidFill>
                <a:latin typeface="Microsoft YaHei"/>
              </a:rPr>
              <a:t>Qlib Alpha158 + 估值 + 中性化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363016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46B74"/>
                </a:solidFill>
                <a:latin typeface="Times New Roman"/>
              </a:rPr>
              <a:t>174 columns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0690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0A2E5C"/>
                </a:solidFill>
                <a:latin typeface="Microsoft YaHei"/>
              </a:rPr>
              <a:t>3-fold walk-forward + 5d embargo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445312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46B74"/>
                </a:solidFill>
                <a:latin typeface="Times New Roman"/>
              </a:rPr>
              <a:t>rigorous CV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48920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0A2E5C"/>
                </a:solidFill>
                <a:latin typeface="Microsoft YaHei"/>
              </a:rPr>
              <a:t>LGB + MASTER + Mixer rank-blend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527608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46B74"/>
                </a:solidFill>
                <a:latin typeface="Times New Roman"/>
              </a:rPr>
              <a:t>industrial pipeline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40080" y="5852160"/>
            <a:ext cx="10881360" cy="0"/>
          </a:xfrm>
          <a:prstGeom prst="line">
            <a:avLst/>
          </a:prstGeom>
          <a:ln w="12700">
            <a:solidFill>
              <a:srgbClr val="0F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40080" y="5989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B22234"/>
                </a:solidFill>
                <a:latin typeface="Times New Roman"/>
              </a:rPr>
              <a:t>RESULT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2636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646B74"/>
                </a:solidFill>
                <a:latin typeface="Times New Roman"/>
              </a:rPr>
              <a:t>87-day rolling  </a:t>
            </a:r>
            <a:r>
              <a:rPr sz="3200" b="1" i="0">
                <a:solidFill>
                  <a:srgbClr val="0A2E5C"/>
                </a:solidFill>
                <a:latin typeface="Times New Roman"/>
              </a:rPr>
              <a:t>+1.01%</a:t>
            </a:r>
            <a:r>
              <a:rPr sz="2000" b="0" i="0">
                <a:solidFill>
                  <a:srgbClr val="646B74"/>
                </a:solidFill>
                <a:latin typeface="Times New Roman"/>
              </a:rPr>
              <a:t>   ·   </a:t>
            </a:r>
            <a:r>
              <a:rPr sz="3200" b="1" i="0">
                <a:solidFill>
                  <a:srgbClr val="0A2E5C"/>
                </a:solidFill>
                <a:latin typeface="Times New Roman"/>
              </a:rPr>
              <a:t>t = +4.78</a:t>
            </a:r>
            <a:r>
              <a:rPr sz="1400" b="0" i="0">
                <a:solidFill>
                  <a:srgbClr val="646B74"/>
                </a:solidFill>
                <a:latin typeface="Times New Roman"/>
              </a:rPr>
              <a:t>   ·   p &lt; 0.0001   ·   first statistically significant evidence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57200"/>
            <a:ext cx="10972800" cy="9525"/>
          </a:xfrm>
          <a:prstGeom prst="rect">
            <a:avLst/>
          </a:prstGeom>
          <a:solidFill>
            <a:srgbClr val="0F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F1C30"/>
                </a:solidFill>
                <a:latin typeface="Times New Roman"/>
              </a:rPr>
              <a:t>V.  SECOND LEAP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828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6B74"/>
                </a:solidFill>
                <a:latin typeface="Microsoft YaHei"/>
              </a:rPr>
              <a:t>第二次跃迁  ·  Phase 2 → Phase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 i="0">
                <a:solidFill>
                  <a:srgbClr val="646B74"/>
                </a:solidFill>
                <a:latin typeface="Times New Roman"/>
              </a:rPr>
              <a:t/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6537960"/>
            <a:ext cx="10881360" cy="0"/>
          </a:xfrm>
          <a:prstGeom prst="line">
            <a:avLst/>
          </a:prstGeom>
          <a:ln w="6350">
            <a:solidFill>
              <a:srgbClr val="CFC3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646B74"/>
                </a:solidFill>
                <a:latin typeface="Times New Roman"/>
              </a:rPr>
              <a:t>THU-BDC2026  ·  feat/ensemble-v1  ·  April End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601968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1" i="0">
                <a:solidFill>
                  <a:srgbClr val="B22234"/>
                </a:solidFill>
                <a:latin typeface="Times New Roman"/>
              </a:rPr>
              <a:t>06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005840"/>
            <a:ext cx="38100" cy="109728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00584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B22234"/>
                </a:solidFill>
                <a:latin typeface="Times New Roman"/>
              </a:rPr>
              <a:t>TRADE CEILING FOR REPRODUCIBILITY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389888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0F1C30"/>
                </a:solidFill>
                <a:latin typeface="Microsoft YaHei"/>
              </a:rPr>
              <a:t>用理论上限换跨平台复现性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146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B22234"/>
                </a:solidFill>
                <a:latin typeface="Times New Roman"/>
              </a:rPr>
              <a:t>KEY FINDING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346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46B74"/>
                </a:solidFill>
                <a:latin typeface="Times New Roman"/>
              </a:rPr>
              <a:t>holdout grid-search resolved 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2918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0A2E5C"/>
                </a:solidFill>
                <a:latin typeface="Consolas"/>
              </a:rPr>
              <a:t>{ lgb: 0.10,   master: 0.90,   mixer: 0.00 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77639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0F1C30"/>
                </a:solidFill>
                <a:latin typeface="Times New Roman"/>
              </a:rPr>
              <a:t>The ensemble was a disguised single MASTER model — with GPU non-determinism.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89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646B74"/>
                </a:solidFill>
                <a:latin typeface="Microsoft YaHei"/>
              </a:rPr>
              <a:t>所谓「三模型 ensemble」实质是 MASTER 单模型，且跨平台不可复现。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212080"/>
            <a:ext cx="11247120" cy="1188720"/>
          </a:xfrm>
          <a:prstGeom prst="rect">
            <a:avLst/>
          </a:prstGeom>
          <a:solidFill>
            <a:srgbClr val="F2EADA"/>
          </a:solidFill>
          <a:ln w="12700">
            <a:solidFill>
              <a:srgbClr val="0A2E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3492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B22234"/>
                </a:solidFill>
                <a:latin typeface="Times New Roman"/>
              </a:rPr>
              <a:t>DECISION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6692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A2E5C"/>
                </a:solidFill>
                <a:latin typeface="Times New Roman"/>
              </a:rPr>
              <a:t>Keep the infrastructure. Replace the model layer.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6080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F1C30"/>
                </a:solidFill>
                <a:latin typeface="Microsoft YaHei"/>
              </a:rPr>
              <a:t>保留 Phase 2 全部基础设施（特征、CV、中性化、tradability），只换模型为 LightGBM × 3 seeds 平均。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57200"/>
            <a:ext cx="10972800" cy="9525"/>
          </a:xfrm>
          <a:prstGeom prst="rect">
            <a:avLst/>
          </a:prstGeom>
          <a:solidFill>
            <a:srgbClr val="0F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F1C30"/>
                </a:solidFill>
                <a:latin typeface="Times New Roman"/>
              </a:rPr>
              <a:t>V.  SECOND LEAP  —  OUTCOME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828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6B74"/>
                </a:solidFill>
                <a:latin typeface="Microsoft YaHei"/>
              </a:rPr>
              <a:t>跃迁二 · 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 i="0">
                <a:solidFill>
                  <a:srgbClr val="646B74"/>
                </a:solidFill>
                <a:latin typeface="Times New Roman"/>
              </a:rPr>
              <a:t/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6537960"/>
            <a:ext cx="10881360" cy="0"/>
          </a:xfrm>
          <a:prstGeom prst="line">
            <a:avLst/>
          </a:prstGeom>
          <a:ln w="6350">
            <a:solidFill>
              <a:srgbClr val="CFC3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646B74"/>
                </a:solidFill>
                <a:latin typeface="Times New Roman"/>
              </a:rPr>
              <a:t>THU-BDC2026  ·  feat/ensemble-v1  ·  April End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601968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1" i="0">
                <a:solidFill>
                  <a:srgbClr val="B22234"/>
                </a:solidFill>
                <a:latin typeface="Times New Roman"/>
              </a:rPr>
              <a:t>07 /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0058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B22234"/>
                </a:solidFill>
                <a:latin typeface="Times New Roman"/>
              </a:rPr>
              <a:t>WHAT WE GAVE UP    /    WHAT WE GAINED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4200" b="1" i="0">
                <a:solidFill>
                  <a:srgbClr val="646B74"/>
                </a:solidFill>
                <a:latin typeface="Times New Roman"/>
              </a:rPr>
              <a:t>6.3 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18288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 i="0">
                <a:solidFill>
                  <a:srgbClr val="B22234"/>
                </a:solidFill>
                <a:latin typeface="Times New Roman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73736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0A2E5C"/>
                </a:solidFill>
                <a:latin typeface="Times New Roman"/>
              </a:rPr>
              <a:t>8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82880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646B74"/>
                </a:solidFill>
                <a:latin typeface="Times New Roman"/>
              </a:rPr>
              <a:t>TRAINING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214884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0F1C30"/>
                </a:solidFill>
                <a:latin typeface="Times New Roman"/>
              </a:rPr>
              <a:t>47× faster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" y="2743200"/>
            <a:ext cx="10881360" cy="0"/>
          </a:xfrm>
          <a:prstGeom prst="line">
            <a:avLst/>
          </a:prstGeom>
          <a:ln w="5080">
            <a:solidFill>
              <a:srgbClr val="CFC3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0080" y="2834640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4200" b="1" i="0">
                <a:solidFill>
                  <a:srgbClr val="646B74"/>
                </a:solidFill>
                <a:latin typeface="Times New Roman"/>
              </a:rPr>
              <a:t>none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292608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 i="0">
                <a:solidFill>
                  <a:srgbClr val="B22234"/>
                </a:solidFill>
                <a:latin typeface="Times New Roman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83464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0A2E5C"/>
                </a:solidFill>
                <a:latin typeface="Times New Roman"/>
              </a:rPr>
              <a:t>5 / 5 ×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292608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646B74"/>
                </a:solidFill>
                <a:latin typeface="Times New Roman"/>
              </a:rPr>
              <a:t>MD5 REPRODUCIBILITY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324612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0F1C30"/>
                </a:solidFill>
                <a:latin typeface="Times New Roman"/>
              </a:rPr>
              <a:t>cross-platform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0080" y="3840480"/>
            <a:ext cx="10881360" cy="0"/>
          </a:xfrm>
          <a:prstGeom prst="line">
            <a:avLst/>
          </a:prstGeom>
          <a:ln w="5080">
            <a:solidFill>
              <a:srgbClr val="CFC3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" y="3931920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4200" b="1" i="0">
                <a:solidFill>
                  <a:srgbClr val="646B74"/>
                </a:solidFill>
                <a:latin typeface="Times New Roman"/>
              </a:rPr>
              <a:t>87 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0" y="40233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 i="0">
                <a:solidFill>
                  <a:srgbClr val="B22234"/>
                </a:solidFill>
                <a:latin typeface="Times New Roman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93192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0A2E5C"/>
                </a:solidFill>
                <a:latin typeface="Times New Roman"/>
              </a:rPr>
              <a:t>213 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40233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646B74"/>
                </a:solidFill>
                <a:latin typeface="Times New Roman"/>
              </a:rPr>
              <a:t>ROLLING WINDOW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434340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0F1C30"/>
                </a:solidFill>
                <a:latin typeface="Times New Roman"/>
              </a:rPr>
              <a:t>2.5× longer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40080" y="4937760"/>
            <a:ext cx="10881360" cy="0"/>
          </a:xfrm>
          <a:prstGeom prst="line">
            <a:avLst/>
          </a:prstGeom>
          <a:ln w="5080">
            <a:solidFill>
              <a:srgbClr val="CFC3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40080" y="5029200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4200" b="1" i="0">
                <a:solidFill>
                  <a:srgbClr val="646B74"/>
                </a:solidFill>
                <a:latin typeface="Times New Roman"/>
              </a:rPr>
              <a:t>+1.01 %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80" y="512064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 i="0">
                <a:solidFill>
                  <a:srgbClr val="B22234"/>
                </a:solidFill>
                <a:latin typeface="Times New Roman"/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0" y="502920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0A2E5C"/>
                </a:solidFill>
                <a:latin typeface="Times New Roman"/>
              </a:rPr>
              <a:t>+2.41 %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51206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646B74"/>
                </a:solidFill>
                <a:latin typeface="Times New Roman"/>
              </a:rPr>
              <a:t>5-DAY PORTFOLIO RETURN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544068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0F1C30"/>
                </a:solidFill>
                <a:latin typeface="Times New Roman"/>
              </a:rPr>
              <a:t>t = +4.78 → +12.05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40080" y="6035040"/>
            <a:ext cx="10881360" cy="0"/>
          </a:xfrm>
          <a:prstGeom prst="line">
            <a:avLst/>
          </a:prstGeom>
          <a:ln w="5080">
            <a:solidFill>
              <a:srgbClr val="CFC3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57200"/>
            <a:ext cx="10972800" cy="9525"/>
          </a:xfrm>
          <a:prstGeom prst="rect">
            <a:avLst/>
          </a:prstGeom>
          <a:solidFill>
            <a:srgbClr val="0F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F1C30"/>
                </a:solidFill>
                <a:latin typeface="Times New Roman"/>
              </a:rPr>
              <a:t>VI. 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828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6B74"/>
                </a:solidFill>
                <a:latin typeface="Microsoft YaHei"/>
              </a:rPr>
              <a:t>实证结果  ·  213 天回测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 i="0">
                <a:solidFill>
                  <a:srgbClr val="646B74"/>
                </a:solidFill>
                <a:latin typeface="Times New Roman"/>
              </a:rPr>
              <a:t/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6537960"/>
            <a:ext cx="10881360" cy="0"/>
          </a:xfrm>
          <a:prstGeom prst="line">
            <a:avLst/>
          </a:prstGeom>
          <a:ln w="6350">
            <a:solidFill>
              <a:srgbClr val="CFC3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646B74"/>
                </a:solidFill>
                <a:latin typeface="Times New Roman"/>
              </a:rPr>
              <a:t>THU-BDC2026  ·  feat/ensemble-v1  ·  April End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601968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1" i="0">
                <a:solidFill>
                  <a:srgbClr val="B22234"/>
                </a:solidFill>
                <a:latin typeface="Times New Roman"/>
              </a:rPr>
              <a:t>08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005840"/>
            <a:ext cx="38100" cy="109728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00584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B22234"/>
                </a:solidFill>
                <a:latin typeface="Times New Roman"/>
              </a:rPr>
              <a:t>213-DAY ROLLING BACKTEST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389888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0F1C30"/>
                </a:solidFill>
                <a:latin typeface="Microsoft YaHei"/>
              </a:rPr>
              <a:t>213 个交易日滚动回测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06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46B74"/>
                </a:solidFill>
                <a:latin typeface="Times New Roman"/>
              </a:rPr>
              <a:t>2025-06-03  →  2026-04-16   ·   daily prediction, T+1 open → T+5 open   ·   no leakage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0080" y="3108960"/>
            <a:ext cx="10881360" cy="0"/>
          </a:xfrm>
          <a:prstGeom prst="line">
            <a:avLst/>
          </a:prstGeom>
          <a:ln w="15875">
            <a:solidFill>
              <a:srgbClr val="0F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0080" y="321868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0F1C30"/>
                </a:solidFill>
                <a:latin typeface="Times New Roman"/>
              </a:rPr>
              <a:t>窗口  WINDOW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32186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0F1C30"/>
                </a:solidFill>
                <a:latin typeface="Times New Roman"/>
              </a:rPr>
              <a:t>M10-3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2186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0F1C30"/>
                </a:solidFill>
                <a:latin typeface="Times New Roman"/>
              </a:rPr>
              <a:t>HS300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3218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0F1C30"/>
                </a:solidFill>
                <a:latin typeface="Times New Roman"/>
              </a:rPr>
              <a:t>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218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0F1C30"/>
                </a:solidFill>
                <a:latin typeface="Times New Roman"/>
              </a:rPr>
              <a:t>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0" y="32186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0F1C30"/>
                </a:solidFill>
                <a:latin typeface="Times New Roman"/>
              </a:rPr>
              <a:t>WIN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321868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0F1C30"/>
                </a:solidFill>
                <a:latin typeface="Times New Roman"/>
              </a:rPr>
              <a:t>NOTE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0080" y="3566160"/>
            <a:ext cx="10881360" cy="0"/>
          </a:xfrm>
          <a:prstGeom prst="line">
            <a:avLst/>
          </a:prstGeom>
          <a:ln w="6350">
            <a:solidFill>
              <a:srgbClr val="0F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40080" y="3575304"/>
            <a:ext cx="11521440" cy="384048"/>
          </a:xfrm>
          <a:prstGeom prst="rect">
            <a:avLst/>
          </a:prstGeom>
          <a:solidFill>
            <a:srgbClr val="EEE4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66674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0F1C30"/>
                </a:solidFill>
                <a:latin typeface="Microsoft YaHei"/>
              </a:rPr>
              <a:t>全量 213 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3666744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0A2E5C"/>
                </a:solidFill>
                <a:latin typeface="Times New Roman"/>
              </a:rPr>
              <a:t>+2.95%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3666744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646B74"/>
                </a:solidFill>
                <a:latin typeface="Times New Roman"/>
              </a:rPr>
              <a:t>+0.37%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0" y="366674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B22234"/>
                </a:solidFill>
                <a:latin typeface="Times New Roman"/>
              </a:rPr>
              <a:t>+2.58%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36667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B22234"/>
                </a:solidFill>
                <a:latin typeface="Times New Roman"/>
              </a:rPr>
              <a:t>+12.05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80" y="366674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0F1C30"/>
                </a:solidFill>
                <a:latin typeface="Times New Roman"/>
              </a:rPr>
              <a:t>87%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69680" y="36667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646B74"/>
                </a:solidFill>
                <a:latin typeface="Times New Roman"/>
              </a:rPr>
              <a:t>Core result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40080" y="3995928"/>
            <a:ext cx="10881360" cy="0"/>
          </a:xfrm>
          <a:prstGeom prst="line">
            <a:avLst/>
          </a:prstGeom>
          <a:ln w="3810">
            <a:solidFill>
              <a:srgbClr val="CFC3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40080" y="405079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0F1C30"/>
                </a:solidFill>
                <a:latin typeface="Microsoft YaHei"/>
              </a:rPr>
              <a:t>2025 H2 · 146 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26080" y="4050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0A2E5C"/>
                </a:solidFill>
                <a:latin typeface="Times New Roman"/>
              </a:rPr>
              <a:t>+2.97%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0" y="4050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646B74"/>
                </a:solidFill>
                <a:latin typeface="Times New Roman"/>
              </a:rPr>
              <a:t>+0.58%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0" y="405079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0F1C30"/>
                </a:solidFill>
                <a:latin typeface="Times New Roman"/>
              </a:rPr>
              <a:t>+2.39%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40507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B22234"/>
                </a:solidFill>
                <a:latin typeface="Times New Roman"/>
              </a:rPr>
              <a:t>+11.11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55280" y="405079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0F1C30"/>
                </a:solidFill>
                <a:latin typeface="Times New Roman"/>
              </a:rPr>
              <a:t>91%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69680" y="40507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646B74"/>
                </a:solidFill>
                <a:latin typeface="Times New Roman"/>
              </a:rPr>
              <a:t>Strongest period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40080" y="4379976"/>
            <a:ext cx="10881360" cy="0"/>
          </a:xfrm>
          <a:prstGeom prst="line">
            <a:avLst/>
          </a:prstGeom>
          <a:ln w="3810">
            <a:solidFill>
              <a:srgbClr val="CFC3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40080" y="44348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0F1C30"/>
                </a:solidFill>
                <a:latin typeface="Microsoft YaHei"/>
              </a:rPr>
              <a:t>近 90 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26080" y="44348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0A2E5C"/>
                </a:solidFill>
                <a:latin typeface="Times New Roman"/>
              </a:rPr>
              <a:t>+1.36%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97680" y="44348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646B74"/>
                </a:solidFill>
                <a:latin typeface="Times New Roman"/>
              </a:rPr>
              <a:t>+0.13%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0" y="443484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0F1C30"/>
                </a:solidFill>
                <a:latin typeface="Times New Roman"/>
              </a:rPr>
              <a:t>+1.23%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0" y="44348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B22234"/>
                </a:solidFill>
                <a:latin typeface="Times New Roman"/>
              </a:rPr>
              <a:t>+6.38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0" y="44348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0F1C30"/>
                </a:solidFill>
                <a:latin typeface="Times New Roman"/>
              </a:rPr>
              <a:t>75%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69680" y="44348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646B74"/>
                </a:solidFill>
                <a:latin typeface="Times New Roman"/>
              </a:rPr>
              <a:t>Still dominant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40080" y="4764024"/>
            <a:ext cx="10881360" cy="0"/>
          </a:xfrm>
          <a:prstGeom prst="line">
            <a:avLst/>
          </a:prstGeom>
          <a:ln w="3810">
            <a:solidFill>
              <a:srgbClr val="CFC3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40080" y="481888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0F1C30"/>
                </a:solidFill>
                <a:latin typeface="Microsoft YaHei"/>
              </a:rPr>
              <a:t>近 60 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926080" y="48188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0A2E5C"/>
                </a:solidFill>
                <a:latin typeface="Times New Roman"/>
              </a:rPr>
              <a:t>+1.11%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97680" y="48188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646B74"/>
                </a:solidFill>
                <a:latin typeface="Times New Roman"/>
              </a:rPr>
              <a:t>−0.16%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0" y="48188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0F1C30"/>
                </a:solidFill>
                <a:latin typeface="Times New Roman"/>
              </a:rPr>
              <a:t>+1.27%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0" y="4818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B22234"/>
                </a:solidFill>
                <a:latin typeface="Times New Roman"/>
              </a:rPr>
              <a:t>+4.61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55280" y="48188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0F1C30"/>
                </a:solidFill>
                <a:latin typeface="Times New Roman"/>
              </a:rPr>
              <a:t>67%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869680" y="481888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646B74"/>
                </a:solidFill>
                <a:latin typeface="Times New Roman"/>
              </a:rPr>
              <a:t>Consistent excess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640080" y="5148072"/>
            <a:ext cx="10881360" cy="0"/>
          </a:xfrm>
          <a:prstGeom prst="line">
            <a:avLst/>
          </a:prstGeom>
          <a:ln w="3810">
            <a:solidFill>
              <a:srgbClr val="CFC3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640080" y="520293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0F1C30"/>
                </a:solidFill>
                <a:latin typeface="Microsoft YaHei"/>
              </a:rPr>
              <a:t>近 30 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26080" y="520293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0A2E5C"/>
                </a:solidFill>
                <a:latin typeface="Times New Roman"/>
              </a:rPr>
              <a:t>+0.25%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97680" y="520293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646B74"/>
                </a:solidFill>
                <a:latin typeface="Times New Roman"/>
              </a:rPr>
              <a:t>−0.13%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0" y="520293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0F1C30"/>
                </a:solidFill>
                <a:latin typeface="Times New Roman"/>
              </a:rPr>
              <a:t>+0.38%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0" y="520293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B22234"/>
                </a:solidFill>
                <a:latin typeface="Times New Roman"/>
              </a:rPr>
              <a:t>+1.43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955280" y="520293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0F1C30"/>
                </a:solidFill>
                <a:latin typeface="Times New Roman"/>
              </a:rPr>
              <a:t>53%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69680" y="520293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646B74"/>
                </a:solidFill>
                <a:latin typeface="Times New Roman"/>
              </a:rPr>
              <a:t>Marginal lead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40080" y="5532120"/>
            <a:ext cx="10881360" cy="0"/>
          </a:xfrm>
          <a:prstGeom prst="line">
            <a:avLst/>
          </a:prstGeom>
          <a:ln w="3810">
            <a:solidFill>
              <a:srgbClr val="CFC3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/>
          <p:cNvSpPr/>
          <p:nvPr/>
        </p:nvSpPr>
        <p:spPr>
          <a:xfrm>
            <a:off x="640080" y="5495544"/>
            <a:ext cx="11521440" cy="384048"/>
          </a:xfrm>
          <a:prstGeom prst="rect">
            <a:avLst/>
          </a:prstGeom>
          <a:solidFill>
            <a:srgbClr val="EEE4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0080" y="558698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0F1C30"/>
                </a:solidFill>
                <a:latin typeface="Microsoft YaHei"/>
              </a:rPr>
              <a:t>近 10 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26080" y="5586984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0A2E5C"/>
                </a:solidFill>
                <a:latin typeface="Times New Roman"/>
              </a:rPr>
              <a:t>−0.06%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297680" y="5586984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646B74"/>
                </a:solidFill>
                <a:latin typeface="Times New Roman"/>
              </a:rPr>
              <a:t>+1.18%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0" y="558698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B22234"/>
                </a:solidFill>
                <a:latin typeface="Times New Roman"/>
              </a:rPr>
              <a:t>−1.18%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58000" y="55869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B22234"/>
                </a:solidFill>
                <a:latin typeface="Times New Roman"/>
              </a:rPr>
              <a:t>−3.62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955280" y="558698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0F1C30"/>
                </a:solidFill>
                <a:latin typeface="Times New Roman"/>
              </a:rPr>
              <a:t>40%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869680" y="558698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646B74"/>
                </a:solidFill>
                <a:latin typeface="Times New Roman"/>
              </a:rPr>
              <a:t>Style mismatch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640080" y="5916168"/>
            <a:ext cx="10881360" cy="0"/>
          </a:xfrm>
          <a:prstGeom prst="line">
            <a:avLst/>
          </a:prstGeom>
          <a:ln w="3810">
            <a:solidFill>
              <a:srgbClr val="CFC3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640080" y="6126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C30"/>
                </a:solidFill>
                <a:latin typeface="Times New Roman"/>
              </a:rPr>
              <a:t>Long windows dominate; the last-10-day miss is a style shift, not a method failure.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57200"/>
            <a:ext cx="10972800" cy="9525"/>
          </a:xfrm>
          <a:prstGeom prst="rect">
            <a:avLst/>
          </a:prstGeom>
          <a:solidFill>
            <a:srgbClr val="0F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F1C30"/>
                </a:solidFill>
                <a:latin typeface="Times New Roman"/>
              </a:rPr>
              <a:t>VII.  CONTAINMENT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828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6B74"/>
                </a:solidFill>
                <a:latin typeface="Microsoft YaHei"/>
              </a:rPr>
              <a:t>Phase 4  ·  近 10 天风险补丁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 i="0">
                <a:solidFill>
                  <a:srgbClr val="646B74"/>
                </a:solidFill>
                <a:latin typeface="Times New Roman"/>
              </a:rPr>
              <a:t>M10-3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6537960"/>
            <a:ext cx="10881360" cy="0"/>
          </a:xfrm>
          <a:prstGeom prst="line">
            <a:avLst/>
          </a:prstGeom>
          <a:ln w="6350">
            <a:solidFill>
              <a:srgbClr val="CFC3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646B74"/>
                </a:solidFill>
                <a:latin typeface="Times New Roman"/>
              </a:rPr>
              <a:t>THU-BDC2026  ·  feat/ensemble-v1  ·  April End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601968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1" i="0">
                <a:solidFill>
                  <a:srgbClr val="B22234"/>
                </a:solidFill>
                <a:latin typeface="Times New Roman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005840"/>
            <a:ext cx="38100" cy="109728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00584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B22234"/>
                </a:solidFill>
                <a:latin typeface="Times New Roman"/>
              </a:rPr>
              <a:t>RISK  CONTAINMENT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389888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0F1C30"/>
                </a:solidFill>
                <a:latin typeface="Microsoft YaHei"/>
              </a:rPr>
              <a:t>市值约束 Top-K  ·  mcap_constrained_topk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4688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200000"/>
              </a:lnSpc>
            </a:pPr>
            <a:r>
              <a:rPr sz="1000" b="1" i="0">
                <a:solidFill>
                  <a:srgbClr val="B22234"/>
                </a:solidFill>
                <a:latin typeface="Times New Roman"/>
              </a:rPr>
              <a:t>THE  SYMPTOM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0080" y="2788920"/>
            <a:ext cx="3017520" cy="0"/>
          </a:xfrm>
          <a:prstGeom prst="line">
            <a:avLst/>
          </a:prstGeom>
          <a:ln w="12700">
            <a:solidFill>
              <a:srgbClr val="B222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0080" y="29260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0F1C30"/>
                </a:solidFill>
                <a:latin typeface="Microsoft YaHei"/>
              </a:rPr>
              <a:t>近 10 天 Top-5 集中小盘成长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4290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646B74"/>
                </a:solidFill>
                <a:latin typeface="Times New Roman"/>
              </a:rPr>
              <a:t>4 / 5 small-cap  ·  −1.42%  vs  HS300 +1.18%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114800"/>
            <a:ext cx="5486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0F1C30"/>
                </a:solidFill>
                <a:latin typeface="Microsoft YaHei"/>
              </a:rPr>
              <a:t>大盘轮动期，模型选出的纯粹 alpha 信号与市场风格错配——这不是 bug，是未在组合层施加风控的代价。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4688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200000"/>
              </a:lnSpc>
            </a:pPr>
            <a:r>
              <a:rPr sz="1000" b="1" i="0">
                <a:solidFill>
                  <a:srgbClr val="0A2E5C"/>
                </a:solidFill>
                <a:latin typeface="Times New Roman"/>
              </a:rPr>
              <a:t>THE  PATCH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3657600" y="2788920"/>
            <a:ext cx="2926080" cy="0"/>
          </a:xfrm>
          <a:prstGeom prst="line">
            <a:avLst/>
          </a:prstGeom>
          <a:ln w="12700">
            <a:solidFill>
              <a:srgbClr val="0A2E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0" y="29260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0A2E5C"/>
                </a:solidFill>
                <a:latin typeface="Microsoft YaHei"/>
              </a:rPr>
              <a:t>Top-10 候选中强制 ≥ 3 只大盘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4290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46B74"/>
                </a:solidFill>
                <a:latin typeface="Times New Roman"/>
              </a:rPr>
              <a:t>MCAP_MIN_LARGE = 3   ·   MCAP_LARGE_Q = 0.5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3931920"/>
            <a:ext cx="5486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 i="0">
                <a:solidFill>
                  <a:srgbClr val="646B74"/>
                </a:solidFill>
                <a:latin typeface="Times New Roman"/>
              </a:rPr>
              <a:t>01  </a:t>
            </a:r>
            <a:r>
              <a:rPr sz="1100" b="0" i="0">
                <a:solidFill>
                  <a:srgbClr val="0F1C30"/>
                </a:solidFill>
                <a:latin typeface="Consolas"/>
              </a:rPr>
              <a:t>deterministic_top_k(k=10)  →  candidates</a:t>
            </a:r>
          </a:p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0F1C30"/>
                </a:solidFill>
                <a:latin typeface="Consolas"/>
              </a:rPr>
              <a:t/>
            </a:r>
            <a:r>
              <a:rPr sz="1100" b="1" i="0">
                <a:solidFill>
                  <a:srgbClr val="646B74"/>
                </a:solidFill>
                <a:latin typeface="Times New Roman"/>
              </a:rPr>
              <a:t>02  </a:t>
            </a:r>
            <a:r>
              <a:rPr sz="1100" b="0" i="0">
                <a:solidFill>
                  <a:srgbClr val="0F1C30"/>
                </a:solidFill>
                <a:latin typeface="Consolas"/>
              </a:rPr>
              <a:t>M = median(log_mktcap)  of  HS300 today</a:t>
            </a:r>
          </a:p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0F1C30"/>
                </a:solidFill>
                <a:latin typeface="Consolas"/>
              </a:rPr>
              <a:t/>
            </a:r>
            <a:r>
              <a:rPr sz="1100" b="1" i="0">
                <a:solidFill>
                  <a:srgbClr val="646B74"/>
                </a:solidFill>
                <a:latin typeface="Times New Roman"/>
              </a:rPr>
              <a:t>03  </a:t>
            </a:r>
            <a:r>
              <a:rPr sz="1100" b="0" i="0">
                <a:solidFill>
                  <a:srgbClr val="0F1C30"/>
                </a:solidFill>
                <a:latin typeface="Consolas"/>
              </a:rPr>
              <a:t>greedy pick 5: score↓, swap small→large</a:t>
            </a:r>
          </a:p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0F1C30"/>
                </a:solidFill>
                <a:latin typeface="Consolas"/>
              </a:rPr>
              <a:t/>
            </a:r>
            <a:r>
              <a:rPr sz="1100" b="0" i="0">
                <a:solidFill>
                  <a:srgbClr val="0F1C30"/>
                </a:solidFill>
                <a:latin typeface="Consolas"/>
              </a:rPr>
              <a:t>       until  n_large ≥ 3</a:t>
            </a:r>
          </a:p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0F1C30"/>
                </a:solidFill>
                <a:latin typeface="Consolas"/>
              </a:rPr>
              <a:t/>
            </a:r>
            <a:r>
              <a:rPr sz="1100" b="1" i="0">
                <a:solidFill>
                  <a:srgbClr val="646B74"/>
                </a:solidFill>
                <a:latin typeface="Times New Roman"/>
              </a:rPr>
              <a:t>04  </a:t>
            </a:r>
            <a:r>
              <a:rPr sz="1100" b="0" i="0">
                <a:solidFill>
                  <a:srgbClr val="646B74"/>
                </a:solidFill>
                <a:latin typeface="Consolas"/>
              </a:rPr>
              <a:t>fallback: Top-5 if large&lt;3 in Top-10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0080" y="5669280"/>
            <a:ext cx="10881360" cy="0"/>
          </a:xfrm>
          <a:prstGeom prst="line">
            <a:avLst/>
          </a:prstGeom>
          <a:ln w="9525">
            <a:solidFill>
              <a:srgbClr val="0F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0080" y="57607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200000"/>
              </a:lnSpc>
            </a:pPr>
            <a:r>
              <a:rPr sz="1000" b="1" i="0">
                <a:solidFill>
                  <a:srgbClr val="0F1C30"/>
                </a:solidFill>
                <a:latin typeface="Times New Roman"/>
              </a:rPr>
              <a:t>10-DAY  A / 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035040"/>
            <a:ext cx="11521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646B74"/>
                </a:solidFill>
                <a:latin typeface="Times New Roman"/>
              </a:rPr>
              <a:t>baseline  </a:t>
            </a:r>
            <a:r>
              <a:rPr sz="2000" b="1" i="0">
                <a:solidFill>
                  <a:srgbClr val="646B74"/>
                </a:solidFill>
                <a:latin typeface="Times New Roman"/>
              </a:rPr>
              <a:t>−1.42%</a:t>
            </a:r>
            <a:r>
              <a:rPr sz="1400" b="0" i="0">
                <a:solidFill>
                  <a:srgbClr val="646B74"/>
                </a:solidFill>
                <a:latin typeface="Times New Roman"/>
              </a:rPr>
              <a:t>       →       </a:t>
            </a:r>
            <a:r>
              <a:rPr sz="1400" b="0" i="0">
                <a:solidFill>
                  <a:srgbClr val="0F1C30"/>
                </a:solidFill>
                <a:latin typeface="Times New Roman"/>
              </a:rPr>
              <a:t>M10-3  </a:t>
            </a:r>
            <a:r>
              <a:rPr sz="2000" b="1" i="0">
                <a:solidFill>
                  <a:srgbClr val="0A2E5C"/>
                </a:solidFill>
                <a:latin typeface="Times New Roman"/>
              </a:rPr>
              <a:t>−0.31%</a:t>
            </a:r>
            <a:r>
              <a:rPr sz="1400" b="0" i="0">
                <a:solidFill>
                  <a:srgbClr val="646B74"/>
                </a:solidFill>
                <a:latin typeface="Times New Roman"/>
              </a:rPr>
              <a:t>       Δ  </a:t>
            </a:r>
            <a:r>
              <a:rPr sz="2000" b="1" i="0">
                <a:solidFill>
                  <a:srgbClr val="B22234"/>
                </a:solidFill>
                <a:latin typeface="Times New Roman"/>
              </a:rPr>
              <a:t>+1.11 pp</a:t>
            </a:r>
            <a:r>
              <a:rPr sz="1400" b="0" i="0">
                <a:solidFill>
                  <a:srgbClr val="646B74"/>
                </a:solidFill>
                <a:latin typeface="Microsoft YaHei"/>
              </a:rPr>
              <a:t>       ·  减损幅度 78%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57200"/>
            <a:ext cx="10972800" cy="9525"/>
          </a:xfrm>
          <a:prstGeom prst="rect">
            <a:avLst/>
          </a:prstGeom>
          <a:solidFill>
            <a:srgbClr val="0F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F1C30"/>
                </a:solidFill>
                <a:latin typeface="Times New Roman"/>
              </a:rPr>
              <a:t>VIII. 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828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6B74"/>
                </a:solidFill>
                <a:latin typeface="Microsoft YaHei"/>
              </a:rPr>
              <a:t>复现性  ·  Reproducibility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 i="0">
                <a:solidFill>
                  <a:srgbClr val="646B74"/>
                </a:solidFill>
                <a:latin typeface="Times New Roman"/>
              </a:rPr>
              <a:t>赛规 §1 &amp; §5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6537960"/>
            <a:ext cx="10881360" cy="0"/>
          </a:xfrm>
          <a:prstGeom prst="line">
            <a:avLst/>
          </a:prstGeom>
          <a:ln w="6350">
            <a:solidFill>
              <a:srgbClr val="CFC3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646B74"/>
                </a:solidFill>
                <a:latin typeface="Times New Roman"/>
              </a:rPr>
              <a:t>THU-BDC2026  ·  feat/ensemble-v1  ·  April End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601968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1" i="0">
                <a:solidFill>
                  <a:srgbClr val="B22234"/>
                </a:solidFill>
                <a:latin typeface="Times New Roman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005840"/>
            <a:ext cx="38100" cy="109728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00584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B22234"/>
                </a:solidFill>
                <a:latin typeface="Times New Roman"/>
              </a:rPr>
              <a:t>REPRODUCIBILITY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389888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0F1C30"/>
                </a:solidFill>
                <a:latin typeface="Microsoft YaHei"/>
              </a:rPr>
              <a:t>三层证据  ·  训练 / 推理 / 跨权重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1031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200000"/>
              </a:lnSpc>
            </a:pPr>
            <a:r>
              <a:rPr sz="1000" b="1" i="0">
                <a:solidFill>
                  <a:srgbClr val="646B74"/>
                </a:solidFill>
                <a:latin typeface="Times New Roman"/>
              </a:rPr>
              <a:t>GOLDEN  MD5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231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0F1C30"/>
                </a:solidFill>
                <a:latin typeface="Consolas"/>
              </a:rPr>
              <a:t>f13034946c0aaea5cb1e3f2d0d6ad692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0080" y="3246120"/>
            <a:ext cx="10881360" cy="0"/>
          </a:xfrm>
          <a:prstGeom prst="line">
            <a:avLst/>
          </a:prstGeom>
          <a:ln w="6350">
            <a:solidFill>
              <a:srgbClr val="CFC3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0080" y="36118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B22234"/>
                </a:solidFill>
                <a:latin typeface="Times New Roman"/>
              </a:rPr>
              <a:t>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72160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0F1C30"/>
                </a:solidFill>
                <a:latin typeface="Microsoft YaHei"/>
              </a:rPr>
              <a:t>训练双跑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1148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0A2E5C"/>
                </a:solidFill>
                <a:latin typeface="Times New Roman"/>
              </a:rPr>
              <a:t>73 files  bit-identical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4805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46B74"/>
                </a:solidFill>
                <a:latin typeface="Times New Roman"/>
              </a:rPr>
              <a:t>5.5 min × 2 runs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36118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B22234"/>
                </a:solidFill>
                <a:latin typeface="Times New Roman"/>
              </a:rPr>
              <a:t>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72160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0F1C30"/>
                </a:solidFill>
                <a:latin typeface="Microsoft YaHei"/>
              </a:rPr>
              <a:t>跨平台推理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41148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0A2E5C"/>
                </a:solidFill>
                <a:latin typeface="Times New Roman"/>
              </a:rPr>
              <a:t>4 节点 MD5 一致  ·  含无 AVX-512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44805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46B74"/>
                </a:solidFill>
                <a:latin typeface="Times New Roman"/>
              </a:rPr>
              <a:t>Xeon · i7-13700H · 4060Win · i9-13900HX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36118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B22234"/>
                </a:solidFill>
                <a:latin typeface="Times New Roman"/>
              </a:rPr>
              <a:t>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372160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0F1C30"/>
                </a:solidFill>
                <a:latin typeface="Microsoft YaHei"/>
              </a:rPr>
              <a:t>Schema guard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41148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0A2E5C"/>
                </a:solidFill>
                <a:latin typeface="Times New Roman"/>
              </a:rPr>
              <a:t>赛方 12 列 → fallback 16 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560" y="44805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46B74"/>
                </a:solidFill>
                <a:latin typeface="Times New Roman"/>
              </a:rPr>
              <a:t>真场景 B' 实证 · MD5 一致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40080" y="5394960"/>
            <a:ext cx="10881360" cy="0"/>
          </a:xfrm>
          <a:prstGeom prst="line">
            <a:avLst/>
          </a:prstGeom>
          <a:ln w="6350">
            <a:solidFill>
              <a:srgbClr val="0F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40080" y="55321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200000"/>
              </a:lnSpc>
            </a:pPr>
            <a:r>
              <a:rPr sz="1000" b="1" i="0">
                <a:solidFill>
                  <a:srgbClr val="0F1C30"/>
                </a:solidFill>
                <a:latin typeface="Times New Roman"/>
              </a:rPr>
              <a:t>RESIDUAL  RISK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852160"/>
            <a:ext cx="11521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 i="0">
                <a:solidFill>
                  <a:srgbClr val="0F1C30"/>
                </a:solidFill>
                <a:latin typeface="Microsoft YaHei"/>
              </a:rPr>
              <a:t>赛方 data schema 漂移已识别并防御  </a:t>
            </a:r>
            <a:r>
              <a:rPr sz="1400" b="0" i="0">
                <a:solidFill>
                  <a:srgbClr val="646B74"/>
                </a:solidFill>
                <a:latin typeface="Times New Roman"/>
              </a:rPr>
              <a:t>— </a:t>
            </a:r>
            <a:r>
              <a:rPr sz="1200" b="0" i="0">
                <a:solidFill>
                  <a:srgbClr val="646B74"/>
                </a:solidFill>
                <a:latin typeface="Microsoft YaHei"/>
              </a:rPr>
              <a:t>赛方 baseline data 仅 12 列（缺估值 4 列），原版会因 KeyError 崩溃</a:t>
            </a:r>
            <a:r>
              <a:rPr sz="1200" b="0" i="0">
                <a:solidFill>
                  <a:srgbClr val="646B74"/>
                </a:solidFill>
                <a:latin typeface="Microsoft YaHei"/>
              </a:rPr>
              <a:t>init.sh 加 schema guard：缺列强制 fallback 到镜像内 16 列 bundled 数据</a:t>
            </a:r>
            <a:r>
              <a:rPr sz="1200" b="0" i="0">
                <a:solidFill>
                  <a:srgbClr val="646B74"/>
                </a:solidFill>
                <a:latin typeface="Microsoft YaHei"/>
              </a:rPr>
              <a:t>真场景 B'（12 列模拟）+ 同机时间序列对比 双重实证 → MD5 完全一致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57200"/>
            <a:ext cx="10972800" cy="9525"/>
          </a:xfrm>
          <a:prstGeom prst="rect">
            <a:avLst/>
          </a:prstGeom>
          <a:solidFill>
            <a:srgbClr val="0F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F1C30"/>
                </a:solidFill>
                <a:latin typeface="Times New Roman"/>
              </a:rPr>
              <a:t>IX.  REFLECTION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828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6B74"/>
                </a:solidFill>
                <a:latin typeface="Microsoft YaHei"/>
              </a:rPr>
              <a:t>方法论收束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828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 i="0">
                <a:solidFill>
                  <a:srgbClr val="646B74"/>
                </a:solidFill>
                <a:latin typeface="Times New Roman"/>
              </a:rPr>
              <a:t/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6537960"/>
            <a:ext cx="10881360" cy="0"/>
          </a:xfrm>
          <a:prstGeom prst="line">
            <a:avLst/>
          </a:prstGeom>
          <a:ln w="6350">
            <a:solidFill>
              <a:srgbClr val="CFC3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646B74"/>
                </a:solidFill>
                <a:latin typeface="Times New Roman"/>
              </a:rPr>
              <a:t>THU-BDC2026  ·  feat/ensemble-v1  ·  April End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601968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1" i="0">
                <a:solidFill>
                  <a:srgbClr val="B22234"/>
                </a:solidFill>
                <a:latin typeface="Times New Roman"/>
              </a:rPr>
              <a:t>11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005840"/>
            <a:ext cx="38100" cy="109728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00584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B22234"/>
                </a:solidFill>
                <a:latin typeface="Times New Roman"/>
              </a:rPr>
              <a:t>WHAT  WE  LEARNED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389888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0F1C30"/>
                </a:solidFill>
                <a:latin typeface="Microsoft YaHei"/>
              </a:rPr>
              <a:t>四条可迁移的经验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10312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 i="0">
                <a:solidFill>
                  <a:srgbClr val="B22234"/>
                </a:solidFill>
                <a:latin typeface="Times New Roman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1945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0F1C30"/>
                </a:solidFill>
                <a:latin typeface="Microsoft YaHei"/>
              </a:rPr>
              <a:t>理论上限  ≠  可交付上限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517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00" b="0" i="0">
                <a:solidFill>
                  <a:srgbClr val="646B74"/>
                </a:solidFill>
                <a:latin typeface="Microsoft YaHei"/>
              </a:rPr>
              <a:t>Phase 2 集成得分更高，但跨平台不稳健。放弃 0.1 bp 换 MD5 一致，是 net positive 的决策。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15468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 i="0">
                <a:solidFill>
                  <a:srgbClr val="B22234"/>
                </a:solidFill>
                <a:latin typeface="Times New Roman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2461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0F1C30"/>
                </a:solidFill>
                <a:latin typeface="Microsoft YaHei"/>
              </a:rPr>
              <a:t>样本量决定置信度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7033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00" b="0" i="0">
                <a:solidFill>
                  <a:srgbClr val="646B74"/>
                </a:solidFill>
                <a:latin typeface="Microsoft YaHei"/>
              </a:rPr>
              <a:t>87 天窗口 t=+4.78 已经显著，但 213 天 t=+12.05 才能说服自己和评委。鲁棒性是多轮重复后才浮现的性质。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20624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 i="0">
                <a:solidFill>
                  <a:srgbClr val="B22234"/>
                </a:solidFill>
                <a:latin typeface="Times New Roman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2976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0F1C30"/>
                </a:solidFill>
                <a:latin typeface="Microsoft YaHei"/>
              </a:rPr>
              <a:t>模型层  vs  组合层  职责分离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754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00" b="0" i="0">
                <a:solidFill>
                  <a:srgbClr val="646B74"/>
                </a:solidFill>
                <a:latin typeface="Microsoft YaHei"/>
              </a:rPr>
              <a:t>近 10 天风格错配不用重训，在组合层加 mcap 约束即可止损 78%。这是工业化思维。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25780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 i="0">
                <a:solidFill>
                  <a:srgbClr val="B22234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53492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0F1C30"/>
                </a:solidFill>
                <a:latin typeface="Microsoft YaHei"/>
              </a:rPr>
              <a:t>工程保障  ≥  算法创新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8064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00" b="0" i="0">
                <a:solidFill>
                  <a:srgbClr val="646B74"/>
                </a:solidFill>
                <a:latin typeface="Microsoft YaHei"/>
              </a:rPr>
              <a:t>deterministic、force_row_wise、LF line ending、bundled data self-heal—每一条都来自一次失败。工程的价值是让好模型活下来。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300000"/>
              </a:lnSpc>
            </a:pPr>
            <a:r>
              <a:rPr sz="1100" b="1" i="0">
                <a:solidFill>
                  <a:srgbClr val="646B74"/>
                </a:solidFill>
                <a:latin typeface="Times New Roman"/>
              </a:rPr>
              <a:t>—  END  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250000"/>
              </a:lnSpc>
            </a:pPr>
            <a:r>
              <a:rPr sz="1000" b="1" i="0">
                <a:solidFill>
                  <a:srgbClr val="B22234"/>
                </a:solidFill>
                <a:latin typeface="Times New Roman"/>
              </a:rPr>
              <a:t>CLOSING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097280" y="2148840"/>
            <a:ext cx="274320" cy="0"/>
          </a:xfrm>
          <a:prstGeom prst="line">
            <a:avLst/>
          </a:prstGeom>
          <a:ln w="12700">
            <a:solidFill>
              <a:srgbClr val="B222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97280" y="2377440"/>
            <a:ext cx="100584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i="0">
                <a:solidFill>
                  <a:srgbClr val="0F1C30"/>
                </a:solidFill>
                <a:latin typeface="Microsoft YaHei"/>
              </a:rPr>
              <a:t>我们交付的不是最强的模型，</a:t>
            </a:r>
          </a:p>
          <a:p>
            <a:pPr algn="l">
              <a:lnSpc>
                <a:spcPct val="135000"/>
              </a:lnSpc>
            </a:pPr>
            <a:r>
              <a:rPr sz="3600" b="1" i="0">
                <a:solidFill>
                  <a:srgbClr val="0F1C30"/>
                </a:solidFill>
                <a:latin typeface="Microsoft YaHei"/>
              </a:rPr>
              <a:t>而是在不确定性下做出最理性决策的方法论。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5720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80000"/>
              </a:lnSpc>
            </a:pPr>
            <a:r>
              <a:rPr sz="1400" b="0" i="1">
                <a:solidFill>
                  <a:srgbClr val="646B74"/>
                </a:solidFill>
                <a:latin typeface="Times New Roman"/>
              </a:rPr>
              <a:t>213-day  rolling  +2.95%   ·   t  = +12.05   ·   MD5  consistent  across  3  nodes</a:t>
            </a:r>
          </a:p>
          <a:p>
            <a:pPr algn="l">
              <a:lnSpc>
                <a:spcPct val="180000"/>
              </a:lnSpc>
            </a:pPr>
            <a:r>
              <a:rPr sz="1400" b="0" i="1">
                <a:solidFill>
                  <a:srgbClr val="646B74"/>
                </a:solidFill>
                <a:latin typeface="Times New Roman"/>
              </a:rPr>
              <a:t>code frozen  ·  Phase 4  ·  W1  ready for submission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97280" y="5852160"/>
            <a:ext cx="8961120" cy="0"/>
          </a:xfrm>
          <a:prstGeom prst="line">
            <a:avLst/>
          </a:prstGeom>
          <a:ln w="6350">
            <a:solidFill>
              <a:srgbClr val="CFC3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97280" y="59893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200000"/>
              </a:lnSpc>
            </a:pPr>
            <a:r>
              <a:rPr sz="1100" b="1" i="0">
                <a:solidFill>
                  <a:srgbClr val="0F1C30"/>
                </a:solidFill>
                <a:latin typeface="Times New Roman"/>
              </a:rPr>
              <a:t>THU-BDC  2026</a:t>
            </a:r>
            <a:r>
              <a:rPr sz="1100" b="0" i="0">
                <a:solidFill>
                  <a:srgbClr val="646B74"/>
                </a:solidFill>
                <a:latin typeface="Times New Roman"/>
              </a:rPr>
              <a:t>      ·      </a:t>
            </a:r>
            <a:r>
              <a:rPr sz="1100" b="1" i="0">
                <a:solidFill>
                  <a:srgbClr val="0A2E5C"/>
                </a:solidFill>
                <a:latin typeface="Times New Roman"/>
              </a:rPr>
              <a:t>LCF @ NUDT</a:t>
            </a:r>
            <a:r>
              <a:rPr sz="1100" b="0" i="0">
                <a:solidFill>
                  <a:srgbClr val="646B74"/>
                </a:solidFill>
                <a:latin typeface="Times New Roman"/>
              </a:rPr>
              <a:t>      ·      </a:t>
            </a:r>
            <a:r>
              <a:rPr sz="1100" b="0" i="0">
                <a:solidFill>
                  <a:srgbClr val="0F1C30"/>
                </a:solidFill>
                <a:latin typeface="Times New Roman"/>
              </a:rPr>
              <a:t>2026  ·  04  · 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