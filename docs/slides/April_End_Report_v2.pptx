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各位老师、同学，下午好。这是我们 THU-BDC2026 四月阶段的完整复盘。从 3 月 15 日启动，到今天 W1 提交前，我们用 40 天走完 3 个阶段、4 次方法论跃迁。最终交付的是一个 213 天 rolling 上 t=+12 显著、跨平台可复现、赛规硬门槛稳定通过的 deterministic 主线。这次汇报约 10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这一页只有一件事：我们最终提交的 M10-3 配置，在 213 个交易日 rolling 上，5 日组合收益均值 +2.95%，相对 HS300 等权指数 t = +12.05，胜率 87%，相对赛方官方 baseline 超额 +1.64 个百分点。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这份复盘的真正论点不是：我们找到了最好的模型。而是：我们如何在层层叠加的不确定性下，持续做出基于证据的理性决策。每一次方法论切换，都由新证据驱动，而非主观偏好。这是我们认为最值得讲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 40 天的时间轴。从 Phase 1 本地 0.0642 开始，Phase 2 首次拿到 t = +4.78 的硬证据，Phase 3 切到 LGB-only 后 rolling 扩到 213 天、t = +12.05，Phase 4 是今天的 Risk Containment 补丁 M10-3，提交前的最后防守。这页最想说的：每次切换都由数据驱动，不是因为之前的方案不好，而是发现了更大的风险。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第一次跃迁的核心是方法论的工业化。左栏是 Phase 1 暴露的三个根本问题：本地分只在 30 天窗口测试、CUDA 非确定性、训练预算 6.3 小时没有多 seed 余量。右栏是 Phase 2 的重构：Qlib 标准因子 + 严格 CV + 三模型集成。87 天 rolling 首次拿到 t = +4.78 的统计显著证据。但这个版本也暴露了新的致命问题——下一页展开。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第二次跃迁是更艰难的决策——主动放弃当时最高分的方案。holdout 搜出的最优权重是 {LGB 0.1, MASTER 0.9, Mixer 0.0}，所谓的三模型 ensemble 实质是 MASTER 单模型在做主导，而 MASTER 跨 4060/5090/Windows 五次推理分差 0.17，直接违反赛规。决策：保留全部基础设施，只换模型层——用 LightGBM × 3 seeds 平均。代价是理论上限降低，收益是训练 47 倍加速 + 跨平台 MD5 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四个维度的得失：训练时间 6.3 小时降到 8 分钟，47 倍加速；复现性从零到 Linux × 3 节点全部 MD5 一致；rolling 窗口从 87 天扩到 213 天，增加 2.5 倍；5 日收益从 +1.01% 升到 +2.41%，t 值从 4.78 升到 12.05。我们交出去的不是理论上限，而是伪集成的不稳健性——这是 net positive 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这是核心实证页。213 天全量 +2.95%，t = +12.05；2025 下半年是最强表现期 +2.97%，胜率 91%；近 90 天、60 天都稳定领先。唯独近 10 天 -0.06% 对比 HS300 +1.18% —— 这是大盘轮动下的风格错配，不是方法失效。这个发现直接驱动了下一页 Phase 4 的 Risk Containment 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只做一件事：在组合层加风险约束，不动模型。具体：先取 Top-10 候选，再贪心替换保证至少 3 只大盘。参数 MCAP_MIN_LARGE=3、MCAP_LARGE_Q=0.5。AB 结果：近 10 天 baseline -1.42%，M10-3 -0.31%，减损 1.11pp，幅度 78%。这是 W1 提交的核心差异点，也是跨 phase 工业化思维的一次验证：模型不变，组合层补风控。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这一页是赛规合规的硬证据。Golden MD5 是 f13034946...，训练双跑 73 个文件 bit-identical，跨 Linux/Windows 三节点推理 MD5 全部一致（已强制 LF 行尾），甚至 Phase 3 和 Phase 4 权重 MD5 不同，但 result.csv 字节级一致——这是 deterministic_top_k 量化到 1e-4 的 bonus。唯一残留风险是跨节点 MD5 漂移（原因尚未在项目内做控制变量验证），靠已验证通过的队友节点做最终打包规避。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四条可迁移的经验：① 理论上限不等于可交付上限——放弃 0.1bp 换跨平台一致是净正收益；② 样本量决定置信度——213 天的 t=12 比 87 天的 t=5 更能服人；③ 模型层与组合层职责分离——近 10 天用组合层补风控即可减损 78%；④ 工程保障 ≥ 算法创新——每条 deterministic 措施都来自一次失败。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收尾：我们交付的不是最强的模型，而是在不确定性下做出最理性决策的方法论。213 天 +2.95%，t=+12.05，跨 3 节点 MD5 一致，代码已冻结，W1 提交 ready。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640080"/>
            <a:ext cx="10881360" cy="0"/>
          </a:xfrm>
          <a:prstGeom prst="line">
            <a:avLst/>
          </a:prstGeom>
          <a:ln w="9525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TSINGHUA BIG DATA CHALLENGE  ·  ISSUE N°1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47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25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AN INTERNAL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0A2E5C"/>
                </a:solidFill>
                <a:latin typeface="Times New Roman"/>
              </a:rPr>
              <a:t>From Baseline to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0A2E5C"/>
                </a:solidFill>
                <a:latin typeface="Times New Roman"/>
              </a:rPr>
              <a:t>Deterministic Mainline.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731520" cy="381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0F1C30"/>
                </a:solidFill>
                <a:latin typeface="Microsoft YaHei"/>
              </a:rPr>
              <a:t>从 Baseline 到 Deterministic 主线的四十天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46B74"/>
                </a:solidFill>
                <a:latin typeface="Times New Roman"/>
              </a:rPr>
              <a:t>A report on four methodological leaps, rigorous reproducibility,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46B74"/>
                </a:solidFill>
                <a:latin typeface="Times New Roman"/>
              </a:rPr>
              <a:t>and one defensive patch that landed on the eve of W1 submission.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6350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46B74"/>
                </a:solidFill>
                <a:latin typeface="Times New Roman"/>
              </a:rPr>
              <a:t>MAINLINE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910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1C30"/>
                </a:solidFill>
                <a:latin typeface="Times New Roman"/>
              </a:rPr>
              <a:t>LightGBM + DoubleEnsemble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46B74"/>
                </a:solidFill>
                <a:latin typeface="Times New Roman"/>
              </a:rP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62910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1C30"/>
                </a:solidFill>
                <a:latin typeface="Times New Roman"/>
              </a:rPr>
              <a:t>213 trading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46B74"/>
                </a:solidFill>
                <a:latin typeface="Times New Roman"/>
              </a:rPr>
              <a:t>t-STAT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62910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1C30"/>
                </a:solidFill>
                <a:latin typeface="Times New Roman"/>
              </a:rPr>
              <a:t>+12.05   vs HS300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080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46B74"/>
                </a:solidFill>
                <a:latin typeface="Times New Roman"/>
              </a:rPr>
              <a:t>vs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2910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1C30"/>
                </a:solidFill>
                <a:latin typeface="Times New Roman"/>
              </a:rPr>
              <a:t>+1.64 pp  (6-day)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I.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摘要  ·  核心数字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8000" b="1" i="0">
                <a:solidFill>
                  <a:srgbClr val="0A2E5C"/>
                </a:solidFill>
                <a:latin typeface="Times New Roman"/>
              </a:rPr>
              <a:t>+2.95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 i="0">
                <a:solidFill>
                  <a:srgbClr val="B22234"/>
                </a:solidFill>
                <a:latin typeface="Times New Roman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0F1C30"/>
                </a:solidFill>
                <a:latin typeface="Times New Roman"/>
              </a:rPr>
              <a:t>Mean 5-day portfolio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Microsoft YaHei"/>
              </a:rPr>
              <a:t>213 个交易日 rolling 回测均值  ·  2025-06-03 ~ 2026-04-16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1371600"/>
            <a:ext cx="347472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15544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2E5C"/>
                </a:solidFill>
                <a:latin typeface="Times New Roman"/>
              </a:rPr>
              <a:t>+12.05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F1C30"/>
                </a:solidFill>
                <a:latin typeface="Times New Roman"/>
              </a:rPr>
              <a:t>t-stat vs HS300 equal-weight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420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6B74"/>
                </a:solidFill>
                <a:latin typeface="Microsoft YaHei"/>
              </a:rPr>
              <a:t>相对指数显著性 · p &lt; 0.0001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0" y="2926080"/>
            <a:ext cx="347472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0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2E5C"/>
                </a:solidFill>
                <a:latin typeface="Times New Roman"/>
              </a:rPr>
              <a:t>+1.64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86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F1C30"/>
                </a:solidFill>
                <a:latin typeface="Times New Roman"/>
              </a:rPr>
              <a:t>pp excess vs official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96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6B74"/>
                </a:solidFill>
                <a:latin typeface="Microsoft YaHei"/>
              </a:rPr>
              <a:t>超过赛方门槛 · 6 日样本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0" y="4480560"/>
            <a:ext cx="347472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46634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2E5C"/>
                </a:solidFill>
                <a:latin typeface="Times New Roman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40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F1C30"/>
                </a:solidFill>
                <a:latin typeface="Times New Roman"/>
              </a:rPr>
              <a:t>win rate (portfolio &gt; 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650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6B74"/>
                </a:solidFill>
                <a:latin typeface="Microsoft YaHei"/>
              </a:rPr>
              <a:t>胜率 · 全量 213 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II. 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03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22234"/>
                </a:solidFill>
                <a:latin typeface="Microsoft YaHei"/>
              </a:rPr>
              <a:t>这不是一个关于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646B74"/>
                </a:solidFill>
                <a:latin typeface="Microsoft YaHei"/>
              </a:rPr>
              <a:t>寻找最强模型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646B74"/>
                </a:solidFill>
                <a:latin typeface="Microsoft YaHei"/>
              </a:rPr>
              <a:t>的故事。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148840"/>
            <a:ext cx="6217920" cy="0"/>
          </a:xfrm>
          <a:prstGeom prst="line">
            <a:avLst/>
          </a:prstGeom>
          <a:ln w="25400">
            <a:solidFill>
              <a:srgbClr val="B222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22234"/>
                </a:solidFill>
                <a:latin typeface="Microsoft YaHei"/>
              </a:rPr>
              <a:t>而是一个关于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A2E5C"/>
                </a:solidFill>
                <a:latin typeface="Microsoft YaHei"/>
              </a:rPr>
              <a:t>在不确定性中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A2E5C"/>
                </a:solidFill>
                <a:latin typeface="Microsoft YaHei"/>
              </a:rPr>
              <a:t>持续做出理性决策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A2E5C"/>
                </a:solidFill>
                <a:latin typeface="Microsoft YaHei"/>
              </a:rPr>
              <a:t>的故事。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3093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1">
                <a:solidFill>
                  <a:srgbClr val="646B74"/>
                </a:solidFill>
                <a:latin typeface="Times New Roman"/>
              </a:rPr>
              <a:t>rational decisions under compounding uncertainty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III. 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轨迹  ·  四次跃迁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14 DAYS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04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FOUR METHODOLOGICAL LEAPS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三阶段 · 四次跃迁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114800"/>
            <a:ext cx="10881360" cy="0"/>
          </a:xfrm>
          <a:prstGeom prst="line">
            <a:avLst/>
          </a:prstGeom>
          <a:ln w="19050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899666" y="4023741"/>
            <a:ext cx="201168" cy="201168"/>
          </a:xfrm>
          <a:prstGeom prst="ellipse">
            <a:avLst/>
          </a:prstGeom>
          <a:solidFill>
            <a:srgbClr val="0A2E5C"/>
          </a:solidFill>
          <a:ln w="25400">
            <a:solidFill>
              <a:srgbClr val="FAF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20240"/>
            <a:ext cx="25374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03 / 15 – 04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97480"/>
            <a:ext cx="25374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Baseline</a:t>
            </a:r>
          </a:p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C30"/>
                </a:solidFill>
                <a:latin typeface="Microsoft YaHei"/>
              </a:rPr>
              <a:t>StockTransformer 调参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Local score  0.0642</a:t>
            </a:r>
          </a:p>
        </p:txBody>
      </p:sp>
      <p:sp>
        <p:nvSpPr>
          <p:cNvPr id="20" name="Oval 19"/>
          <p:cNvSpPr/>
          <p:nvPr/>
        </p:nvSpPr>
        <p:spPr>
          <a:xfrm>
            <a:off x="4620006" y="4023741"/>
            <a:ext cx="201168" cy="201168"/>
          </a:xfrm>
          <a:prstGeom prst="ellipse">
            <a:avLst/>
          </a:prstGeom>
          <a:solidFill>
            <a:srgbClr val="0A2E5C"/>
          </a:solidFill>
          <a:ln w="25400">
            <a:solidFill>
              <a:srgbClr val="FAF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1860" y="1920240"/>
            <a:ext cx="25374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1860" y="228600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04 / 14 – 04 /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1860" y="2697480"/>
            <a:ext cx="25374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Ensemble</a:t>
            </a:r>
          </a:p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1860" y="443484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C30"/>
                </a:solidFill>
                <a:latin typeface="Microsoft YaHei"/>
              </a:rPr>
              <a:t>三模型 Ensemble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48920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87 d rolling +1.01%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t = +4.78</a:t>
            </a:r>
          </a:p>
        </p:txBody>
      </p:sp>
      <p:sp>
        <p:nvSpPr>
          <p:cNvPr id="26" name="Oval 25"/>
          <p:cNvSpPr/>
          <p:nvPr/>
        </p:nvSpPr>
        <p:spPr>
          <a:xfrm>
            <a:off x="7340346" y="4023741"/>
            <a:ext cx="201168" cy="201168"/>
          </a:xfrm>
          <a:prstGeom prst="ellipse">
            <a:avLst/>
          </a:prstGeom>
          <a:solidFill>
            <a:srgbClr val="0A2E5C"/>
          </a:solidFill>
          <a:ln w="25400">
            <a:solidFill>
              <a:srgbClr val="FAF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920240"/>
            <a:ext cx="25374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28600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04 / 22 – 04 /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697480"/>
            <a:ext cx="25374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Deterministic</a:t>
            </a:r>
          </a:p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43484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C30"/>
                </a:solidFill>
                <a:latin typeface="Microsoft YaHei"/>
              </a:rPr>
              <a:t>LGB-only 主线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8920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213 d +2.41%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t = +12.05</a:t>
            </a:r>
          </a:p>
        </p:txBody>
      </p:sp>
      <p:sp>
        <p:nvSpPr>
          <p:cNvPr id="32" name="Oval 31"/>
          <p:cNvSpPr/>
          <p:nvPr/>
        </p:nvSpPr>
        <p:spPr>
          <a:xfrm>
            <a:off x="10060686" y="4023741"/>
            <a:ext cx="201168" cy="201168"/>
          </a:xfrm>
          <a:prstGeom prst="ellipse">
            <a:avLst/>
          </a:prstGeom>
          <a:solidFill>
            <a:srgbClr val="B22234"/>
          </a:solidFill>
          <a:ln w="25400">
            <a:solidFill>
              <a:srgbClr val="FAF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2540" y="1920240"/>
            <a:ext cx="25374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2540" y="228600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04 /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2540" y="2697480"/>
            <a:ext cx="25374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Risk</a:t>
            </a:r>
          </a:p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C30"/>
                </a:solidFill>
                <a:latin typeface="Times New Roman"/>
              </a:rPr>
              <a:t>Containment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2540" y="4434840"/>
            <a:ext cx="253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1C30"/>
                </a:solidFill>
                <a:latin typeface="Microsoft YaHei"/>
              </a:rPr>
              <a:t>M10-3 提交补丁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2540" y="4892040"/>
            <a:ext cx="25374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+2.95% · Δ30 +0.38 pp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1C30"/>
                </a:solidFill>
                <a:latin typeface="Times New Roman"/>
              </a:rPr>
              <a:t>Every transition was driven by new evidence, never by intuition.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46B74"/>
                </a:solidFill>
                <a:latin typeface="Microsoft YaHei"/>
              </a:rPr>
              <a:t>每一次切换都由新证据驱动，而非主观偏好。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IV.  FIRST 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第一次跃迁  · 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Phase 1 → Phase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FROM TUNING TO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从「调参冲分」到「工业化方法论」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WHAT WAS WRONG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017520"/>
            <a:ext cx="5120640" cy="0"/>
          </a:xfrm>
          <a:prstGeom prst="line">
            <a:avLst/>
          </a:prstGeom>
          <a:ln w="9525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246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本地分仅 30 天窗口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301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easily overfit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CUDA 非确定性 · 分差 0.17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reproducibility violated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训练 6.3 h · 无多 seed 余量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760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statistical fragility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WHAT CHANGED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3017520"/>
            <a:ext cx="5029200" cy="0"/>
          </a:xfrm>
          <a:prstGeom prst="line">
            <a:avLst/>
          </a:prstGeom>
          <a:ln w="9525">
            <a:solidFill>
              <a:srgbClr val="B222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3246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E5C"/>
                </a:solidFill>
                <a:latin typeface="Microsoft YaHei"/>
              </a:rPr>
              <a:t>Qlib Alpha158 + 估值 + 中性化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301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174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069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E5C"/>
                </a:solidFill>
                <a:latin typeface="Microsoft YaHei"/>
              </a:rPr>
              <a:t>3-fold walk-forward + 5d embargo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531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rigorous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A2E5C"/>
                </a:solidFill>
                <a:latin typeface="Microsoft YaHei"/>
              </a:rPr>
              <a:t>LGB + MASTER + Mixer rank-blend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760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6B74"/>
                </a:solidFill>
                <a:latin typeface="Times New Roman"/>
              </a:rPr>
              <a:t>industrial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5852160"/>
            <a:ext cx="10881360" cy="0"/>
          </a:xfrm>
          <a:prstGeom prst="line">
            <a:avLst/>
          </a:prstGeom>
          <a:ln w="12700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636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46B74"/>
                </a:solidFill>
                <a:latin typeface="Times New Roman"/>
              </a:rPr>
              <a:t>87-day rolling  </a:t>
            </a:r>
            <a:r>
              <a:rPr sz="3200" b="1" i="0">
                <a:solidFill>
                  <a:srgbClr val="0A2E5C"/>
                </a:solidFill>
                <a:latin typeface="Times New Roman"/>
              </a:rPr>
              <a:t>+1.01%</a:t>
            </a:r>
            <a:r>
              <a:rPr sz="2000" b="0" i="0">
                <a:solidFill>
                  <a:srgbClr val="646B74"/>
                </a:solidFill>
                <a:latin typeface="Times New Roman"/>
              </a:rPr>
              <a:t>   ·   </a:t>
            </a:r>
            <a:r>
              <a:rPr sz="3200" b="1" i="0">
                <a:solidFill>
                  <a:srgbClr val="0A2E5C"/>
                </a:solidFill>
                <a:latin typeface="Times New Roman"/>
              </a:rPr>
              <a:t>t = +4.78</a:t>
            </a:r>
            <a:r>
              <a:rPr sz="1400" b="0" i="0">
                <a:solidFill>
                  <a:srgbClr val="646B74"/>
                </a:solidFill>
                <a:latin typeface="Times New Roman"/>
              </a:rPr>
              <a:t>   ·   p &lt; 0.0001   ·   first statistically significant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V.  SECOND 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第二次跃迁  ·  Phase 2 →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TRADE CEILING FOR 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用理论上限换跨平台复现性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46B74"/>
                </a:solidFill>
                <a:latin typeface="Times New Roman"/>
              </a:rPr>
              <a:t>holdout grid-search resolved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2E5C"/>
                </a:solidFill>
                <a:latin typeface="Consolas"/>
              </a:rPr>
              <a:t>{ lgb: 0.10,   master: 0.90,   mixer: 0.00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The ensemble was a disguised single MASTER model — with GPU non-determinism.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46B74"/>
                </a:solidFill>
                <a:latin typeface="Microsoft YaHei"/>
              </a:rPr>
              <a:t>所谓「三模型 ensemble」实质是 MASTER 单模型，且跨平台不可复现。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11247120" cy="1188720"/>
          </a:xfrm>
          <a:prstGeom prst="rect">
            <a:avLst/>
          </a:prstGeom>
          <a:solidFill>
            <a:srgbClr val="F2EADA"/>
          </a:solidFill>
          <a:ln w="1270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A2E5C"/>
                </a:solidFill>
                <a:latin typeface="Times New Roman"/>
              </a:rPr>
              <a:t>Keep the infrastructure. Replace the model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C30"/>
                </a:solidFill>
                <a:latin typeface="Microsoft YaHei"/>
              </a:rPr>
              <a:t>保留 Phase 2 全部基础设施（特征、CV、中性化、tradability），只换模型为 LightGBM × 3 seeds 平均。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V.  SECOND LEAP  — 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跃迁二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07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WHAT WE GAVE UP    /    WHAT WE GAINED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200" b="1" i="0">
                <a:solidFill>
                  <a:srgbClr val="646B74"/>
                </a:solidFill>
                <a:latin typeface="Times New Roman"/>
              </a:rPr>
              <a:t>6.3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28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B22234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373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A2E5C"/>
                </a:solidFill>
                <a:latin typeface="Times New Roman"/>
              </a:rPr>
              <a:t>8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TRAINING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Times New Roman"/>
              </a:rPr>
              <a:t>47× faster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743200"/>
            <a:ext cx="10881360" cy="0"/>
          </a:xfrm>
          <a:prstGeom prst="line">
            <a:avLst/>
          </a:prstGeom>
          <a:ln w="508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8346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200" b="1" i="0">
                <a:solidFill>
                  <a:srgbClr val="646B74"/>
                </a:solidFill>
                <a:latin typeface="Times New Roman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26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B22234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8346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A2E5C"/>
                </a:solidFill>
                <a:latin typeface="Times New Roman"/>
              </a:rPr>
              <a:t>5 / 5 ×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MD5 REPRODUCIBILITY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Times New Roman"/>
              </a:rPr>
              <a:t>cross-platform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3840480"/>
            <a:ext cx="10881360" cy="0"/>
          </a:xfrm>
          <a:prstGeom prst="line">
            <a:avLst/>
          </a:prstGeom>
          <a:ln w="508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393192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200" b="1" i="0">
                <a:solidFill>
                  <a:srgbClr val="646B74"/>
                </a:solidFill>
                <a:latin typeface="Times New Roman"/>
              </a:rPr>
              <a:t>87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023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B22234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9319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A2E5C"/>
                </a:solidFill>
                <a:latin typeface="Times New Roman"/>
              </a:rPr>
              <a:t>213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23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ROLLING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43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Times New Roman"/>
              </a:rPr>
              <a:t>2.5× longer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4937760"/>
            <a:ext cx="10881360" cy="0"/>
          </a:xfrm>
          <a:prstGeom prst="line">
            <a:avLst/>
          </a:prstGeom>
          <a:ln w="508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0292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200" b="1" i="0">
                <a:solidFill>
                  <a:srgbClr val="646B74"/>
                </a:solidFill>
                <a:latin typeface="Times New Roman"/>
              </a:rPr>
              <a:t>+1.01 %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120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B22234"/>
                </a:solidFill>
                <a:latin typeface="Times New Roman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29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A2E5C"/>
                </a:solidFill>
                <a:latin typeface="Times New Roman"/>
              </a:rPr>
              <a:t>+2.41 %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20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5-DAY PORTFOLIO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40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Times New Roman"/>
              </a:rPr>
              <a:t>t = +4.78 → +12.05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035040"/>
            <a:ext cx="10881360" cy="0"/>
          </a:xfrm>
          <a:prstGeom prst="line">
            <a:avLst/>
          </a:prstGeom>
          <a:ln w="508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VI. 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实证结果  ·  213 天回测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213-DAY ROLLING BACKTEST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213 个交易日滚动回测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46B74"/>
                </a:solidFill>
                <a:latin typeface="Times New Roman"/>
              </a:rPr>
              <a:t>2025-06-03  →  2026-04-16   ·   daily prediction, T+1 open → T+5 open   ·   no leakage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108960"/>
            <a:ext cx="10881360" cy="0"/>
          </a:xfrm>
          <a:prstGeom prst="line">
            <a:avLst/>
          </a:prstGeom>
          <a:ln w="15875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窗口 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M10-3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HS300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18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218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186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NOTE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3566160"/>
            <a:ext cx="10881360" cy="0"/>
          </a:xfrm>
          <a:prstGeom prst="line">
            <a:avLst/>
          </a:prstGeom>
          <a:ln w="6350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" y="3575304"/>
            <a:ext cx="11521440" cy="384048"/>
          </a:xfrm>
          <a:prstGeom prst="rect">
            <a:avLst/>
          </a:prstGeom>
          <a:solidFill>
            <a:srgbClr val="EE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66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全量 213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666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+2.95%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666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+0.37%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6667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+2.58%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667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+12.05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66674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87%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6667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Core result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3995928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40507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2025 H2 · 146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+2.97%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+0.58%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0507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+2.39%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0507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+11.11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050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50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Strongest period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379976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近 90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+1.36%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+0.13%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434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+1.23%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+6.38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434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Still dominant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4764024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近 60 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8188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+1.11%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8188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−0.16%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818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+1.27%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818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+4.61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4818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67%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8188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Consistent excess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5148072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0080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近 30 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52029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+0.25%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80" y="52029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−0.13%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0" y="5202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+0.38%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52029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+1.43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52029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53%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2029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Marginal lead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5532120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40080" y="5495544"/>
            <a:ext cx="11521440" cy="384048"/>
          </a:xfrm>
          <a:prstGeom prst="rect">
            <a:avLst/>
          </a:prstGeom>
          <a:solidFill>
            <a:srgbClr val="EE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586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F1C30"/>
                </a:solidFill>
                <a:latin typeface="Microsoft YaHei"/>
              </a:rPr>
              <a:t>近 10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5869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2E5C"/>
                </a:solidFill>
                <a:latin typeface="Times New Roman"/>
              </a:rPr>
              <a:t>−0.06%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7680" y="55869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+1.18%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55869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−1.18%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B22234"/>
                </a:solidFill>
                <a:latin typeface="Times New Roman"/>
              </a:rPr>
              <a:t>−3.62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0" y="5586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F1C30"/>
                </a:solidFill>
                <a:latin typeface="Times New Roman"/>
              </a:rPr>
              <a:t>40%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9680" y="55869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6B74"/>
                </a:solidFill>
                <a:latin typeface="Times New Roman"/>
              </a:rPr>
              <a:t>Style mismatch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40080" y="5916168"/>
            <a:ext cx="10881360" cy="0"/>
          </a:xfrm>
          <a:prstGeom prst="line">
            <a:avLst/>
          </a:prstGeom>
          <a:ln w="381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C30"/>
                </a:solidFill>
                <a:latin typeface="Times New Roman"/>
              </a:rPr>
              <a:t>Long windows dominate; the last-10-day miss is a style shift, not a method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VII. 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Phase 4  ·  近 10 天风险补丁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M10-3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RISK  CONTAINMENT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市值约束 Top-K  ·  mcap_constrained_topk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THE  SYMPTOM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788920"/>
            <a:ext cx="3017520" cy="0"/>
          </a:xfrm>
          <a:prstGeom prst="line">
            <a:avLst/>
          </a:prstGeom>
          <a:ln w="12700">
            <a:solidFill>
              <a:srgbClr val="B222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F1C30"/>
                </a:solidFill>
                <a:latin typeface="Microsoft YaHei"/>
              </a:rPr>
              <a:t>近 10 天 Top-5 集中小盘成长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46B74"/>
                </a:solidFill>
                <a:latin typeface="Times New Roman"/>
              </a:rPr>
              <a:t>4 / 5 small-cap  ·  −1.42%  vs  HS300 +1.18%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F1C30"/>
                </a:solidFill>
                <a:latin typeface="Microsoft YaHei"/>
              </a:rPr>
              <a:t>大盘轮动期，模型选出的纯粹 alpha 信号与市场风格错配——这不是 bug，是未在组合层施加风控的代价。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 b="1" i="0">
                <a:solidFill>
                  <a:srgbClr val="0A2E5C"/>
                </a:solidFill>
                <a:latin typeface="Times New Roman"/>
              </a:rPr>
              <a:t>THE  PATCH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657600" y="2788920"/>
            <a:ext cx="2926080" cy="0"/>
          </a:xfrm>
          <a:prstGeom prst="line">
            <a:avLst/>
          </a:prstGeom>
          <a:ln w="12700">
            <a:solidFill>
              <a:srgbClr val="0A2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A2E5C"/>
                </a:solidFill>
                <a:latin typeface="Microsoft YaHei"/>
              </a:rPr>
              <a:t>Top-10 候选中强制 ≥ 3 只大盘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46B74"/>
                </a:solidFill>
                <a:latin typeface="Times New Roman"/>
              </a:rPr>
              <a:t>MCAP_MIN_LARGE = 3   ·   MCAP_LARGE_Q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01  </a:t>
            </a:r>
            <a:r>
              <a:rPr sz="1100" b="0" i="0">
                <a:solidFill>
                  <a:srgbClr val="0F1C30"/>
                </a:solidFill>
                <a:latin typeface="Consolas"/>
              </a:rPr>
              <a:t>deterministic_top_k(k=10)  →  candidates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F1C30"/>
                </a:solidFill>
                <a:latin typeface="Consolas"/>
              </a:rPr>
              <a:t/>
            </a:r>
            <a:r>
              <a:rPr sz="1100" b="1" i="0">
                <a:solidFill>
                  <a:srgbClr val="646B74"/>
                </a:solidFill>
                <a:latin typeface="Times New Roman"/>
              </a:rPr>
              <a:t>02  </a:t>
            </a:r>
            <a:r>
              <a:rPr sz="1100" b="0" i="0">
                <a:solidFill>
                  <a:srgbClr val="0F1C30"/>
                </a:solidFill>
                <a:latin typeface="Consolas"/>
              </a:rPr>
              <a:t>M = median(log_mktcap)  of  HS300 today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F1C30"/>
                </a:solidFill>
                <a:latin typeface="Consolas"/>
              </a:rPr>
              <a:t/>
            </a:r>
            <a:r>
              <a:rPr sz="1100" b="1" i="0">
                <a:solidFill>
                  <a:srgbClr val="646B74"/>
                </a:solidFill>
                <a:latin typeface="Times New Roman"/>
              </a:rPr>
              <a:t>03  </a:t>
            </a:r>
            <a:r>
              <a:rPr sz="1100" b="0" i="0">
                <a:solidFill>
                  <a:srgbClr val="0F1C30"/>
                </a:solidFill>
                <a:latin typeface="Consolas"/>
              </a:rPr>
              <a:t>greedy pick 5: score↓, swap small→large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F1C30"/>
                </a:solidFill>
                <a:latin typeface="Consolas"/>
              </a:rPr>
              <a:t/>
            </a:r>
            <a:r>
              <a:rPr sz="1100" b="0" i="0">
                <a:solidFill>
                  <a:srgbClr val="0F1C30"/>
                </a:solidFill>
                <a:latin typeface="Consolas"/>
              </a:rPr>
              <a:t>       until  n_large ≥ 3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F1C30"/>
                </a:solidFill>
                <a:latin typeface="Consolas"/>
              </a:rPr>
              <a:t/>
            </a:r>
            <a:r>
              <a:rPr sz="1100" b="1" i="0">
                <a:solidFill>
                  <a:srgbClr val="646B74"/>
                </a:solidFill>
                <a:latin typeface="Times New Roman"/>
              </a:rPr>
              <a:t>04  </a:t>
            </a:r>
            <a:r>
              <a:rPr sz="1100" b="0" i="0">
                <a:solidFill>
                  <a:srgbClr val="646B74"/>
                </a:solidFill>
                <a:latin typeface="Consolas"/>
              </a:rPr>
              <a:t>fallback: Top-5 if large&lt;3 in Top-10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669280"/>
            <a:ext cx="10881360" cy="0"/>
          </a:xfrm>
          <a:prstGeom prst="line">
            <a:avLst/>
          </a:prstGeom>
          <a:ln w="9525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10-DAY  A /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46B74"/>
                </a:solidFill>
                <a:latin typeface="Times New Roman"/>
              </a:rPr>
              <a:t>baseline  </a:t>
            </a:r>
            <a:r>
              <a:rPr sz="2000" b="1" i="0">
                <a:solidFill>
                  <a:srgbClr val="646B74"/>
                </a:solidFill>
                <a:latin typeface="Times New Roman"/>
              </a:rPr>
              <a:t>−1.42%</a:t>
            </a:r>
            <a:r>
              <a:rPr sz="1400" b="0" i="0">
                <a:solidFill>
                  <a:srgbClr val="646B74"/>
                </a:solidFill>
                <a:latin typeface="Times New Roman"/>
              </a:rPr>
              <a:t>       →       </a:t>
            </a:r>
            <a:r>
              <a:rPr sz="1400" b="0" i="0">
                <a:solidFill>
                  <a:srgbClr val="0F1C30"/>
                </a:solidFill>
                <a:latin typeface="Times New Roman"/>
              </a:rPr>
              <a:t>M10-3  </a:t>
            </a:r>
            <a:r>
              <a:rPr sz="2000" b="1" i="0">
                <a:solidFill>
                  <a:srgbClr val="0A2E5C"/>
                </a:solidFill>
                <a:latin typeface="Times New Roman"/>
              </a:rPr>
              <a:t>−0.31%</a:t>
            </a:r>
            <a:r>
              <a:rPr sz="1400" b="0" i="0">
                <a:solidFill>
                  <a:srgbClr val="646B74"/>
                </a:solidFill>
                <a:latin typeface="Times New Roman"/>
              </a:rPr>
              <a:t>       Δ  </a:t>
            </a:r>
            <a:r>
              <a:rPr sz="2000" b="1" i="0">
                <a:solidFill>
                  <a:srgbClr val="B22234"/>
                </a:solidFill>
                <a:latin typeface="Times New Roman"/>
              </a:rPr>
              <a:t>+1.11 pp</a:t>
            </a:r>
            <a:r>
              <a:rPr sz="1400" b="0" i="0">
                <a:solidFill>
                  <a:srgbClr val="646B74"/>
                </a:solidFill>
                <a:latin typeface="Microsoft YaHei"/>
              </a:rPr>
              <a:t>       ·  减损幅度 78%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VIII. 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复现性  · 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>赛规 §1 &amp; §5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REPRODUCIBILITY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三层证据  ·  训练 / 推理 / 跨权重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 b="1" i="0">
                <a:solidFill>
                  <a:srgbClr val="646B74"/>
                </a:solidFill>
                <a:latin typeface="Times New Roman"/>
              </a:rPr>
              <a:t>GOLDEN  MD5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C30"/>
                </a:solidFill>
                <a:latin typeface="Consolas"/>
              </a:rPr>
              <a:t>f13034946c0aaea5cb1e3f2d0d6ad692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24612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B22234"/>
                </a:solidFill>
                <a:latin typeface="Times New Roman"/>
              </a:rPr>
              <a:t>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21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训练双跑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73 files  bit-identical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46B74"/>
                </a:solidFill>
                <a:latin typeface="Times New Roman"/>
              </a:rPr>
              <a:t>5.5 min × 2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11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B22234"/>
                </a:solidFill>
                <a:latin typeface="Times New Roman"/>
              </a:rPr>
              <a:t>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721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跨平台推理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Linux × Linux ×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46B74"/>
                </a:solidFill>
                <a:latin typeface="Times New Roman"/>
              </a:rPr>
              <a:t>5/5 runs each  ·  LF 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11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B22234"/>
                </a:solidFill>
                <a:latin typeface="Times New Roman"/>
              </a:rPr>
              <a:t>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721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跨权重稳健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A2E5C"/>
                </a:solidFill>
                <a:latin typeface="Times New Roman"/>
              </a:rPr>
              <a:t>Phase 3  ≠  Phase 4 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46B74"/>
                </a:solidFill>
                <a:latin typeface="Times New Roman"/>
              </a:rPr>
              <a:t>但 result.csv 字节级一致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5394960"/>
            <a:ext cx="10881360" cy="0"/>
          </a:xfrm>
          <a:prstGeom prst="line">
            <a:avLst/>
          </a:prstGeom>
          <a:ln w="6350">
            <a:solidFill>
              <a:srgbClr val="0F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RESIDUAL 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11521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F1C30"/>
                </a:solidFill>
                <a:latin typeface="Microsoft YaHei"/>
              </a:rPr>
              <a:t>跨节点 MD5 漂移原因待定  </a:t>
            </a:r>
            <a:r>
              <a:rPr sz="1400" b="0" i="0">
                <a:solidFill>
                  <a:srgbClr val="646B74"/>
                </a:solidFill>
                <a:latin typeface="Times New Roman"/>
              </a:rPr>
              <a:t>— </a:t>
            </a:r>
            <a:r>
              <a:rPr sz="1200" b="0" i="0">
                <a:solidFill>
                  <a:srgbClr val="646B74"/>
                </a:solidFill>
                <a:latin typeface="Microsoft YaHei"/>
              </a:rPr>
              <a:t>曾观测到本机 VM 产出不同 MD5（5e8b8b0f…），但控制变量不足</a:t>
            </a:r>
            <a:r>
              <a:rPr sz="1200" b="0" i="0">
                <a:solidFill>
                  <a:srgbClr val="646B74"/>
                </a:solidFill>
                <a:latin typeface="Microsoft YaHei"/>
              </a:rPr>
              <a:t>缓解：以已复现 golden MD5 的队友节点（Linux i7-13700H / Windows 4060）作为最终打包节点。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00" cy="9525"/>
          </a:xfrm>
          <a:prstGeom prst="rect">
            <a:avLst/>
          </a:prstGeom>
          <a:solidFill>
            <a:srgbClr val="0F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C30"/>
                </a:solidFill>
                <a:latin typeface="Times New Roman"/>
              </a:rPr>
              <a:t>IX. 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B74"/>
                </a:solidFill>
                <a:latin typeface="Microsoft YaHei"/>
              </a:rPr>
              <a:t>方法论收束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82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646B74"/>
                </a:solidFill>
                <a:latin typeface="Times New Roman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37960"/>
            <a:ext cx="1088136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646B74"/>
                </a:solidFill>
                <a:latin typeface="Times New Roman"/>
              </a:rPr>
              <a:t>THU-BDC2026  ·  feat/ensemble-v1  ·  April End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11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8100" cy="10972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2234"/>
                </a:solidFill>
                <a:latin typeface="Times New Roman"/>
              </a:rPr>
              <a:t>WHAT  WE 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1C30"/>
                </a:solidFill>
                <a:latin typeface="Microsoft YaHei"/>
              </a:rPr>
              <a:t>四条可迁移的经验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B22234"/>
                </a:solidFill>
                <a:latin typeface="Times New Roman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理论上限  ≠  可交付上限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51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6B74"/>
                </a:solidFill>
                <a:latin typeface="Microsoft YaHei"/>
              </a:rPr>
              <a:t>Phase 2 集成得分更高，但跨平台不稳健。放弃 0.1 bp 换 MD5 一致，是 net positive 的决策。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B22234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样本量决定置信度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03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6B74"/>
                </a:solidFill>
                <a:latin typeface="Microsoft YaHei"/>
              </a:rPr>
              <a:t>87 天窗口 t=+4.78 已经显著，但 213 天 t=+12.05 才能说服自己和评委。鲁棒性是多轮重复后才浮现的性质。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B22234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模型层  vs  组合层  职责分离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6B74"/>
                </a:solidFill>
                <a:latin typeface="Microsoft YaHei"/>
              </a:rPr>
              <a:t>近 10 天风格错配不用重训，在组合层加 mcap 约束即可止损 78%。这是工业化思维。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B22234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C30"/>
                </a:solidFill>
                <a:latin typeface="Microsoft YaHei"/>
              </a:rPr>
              <a:t>工程保障  ≥  算法创新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06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6B74"/>
                </a:solidFill>
                <a:latin typeface="Microsoft YaHei"/>
              </a:rPr>
              <a:t>deterministic、force_row_wise、LF line ending、bundled data self-heal—每一条都来自一次失败。工程的价值是让好模型活下来。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300000"/>
              </a:lnSpc>
            </a:pPr>
            <a:r>
              <a:rPr sz="1100" b="1" i="0">
                <a:solidFill>
                  <a:srgbClr val="646B74"/>
                </a:solidFill>
                <a:latin typeface="Times New Roman"/>
              </a:rPr>
              <a:t>—  END 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50000"/>
              </a:lnSpc>
            </a:pPr>
            <a:r>
              <a:rPr sz="1000" b="1" i="0">
                <a:solidFill>
                  <a:srgbClr val="B22234"/>
                </a:solidFill>
                <a:latin typeface="Times New Roman"/>
              </a:rPr>
              <a:t>CLOSING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148840"/>
            <a:ext cx="274320" cy="0"/>
          </a:xfrm>
          <a:prstGeom prst="line">
            <a:avLst/>
          </a:prstGeom>
          <a:ln w="12700">
            <a:solidFill>
              <a:srgbClr val="B222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37744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i="0">
                <a:solidFill>
                  <a:srgbClr val="0F1C30"/>
                </a:solidFill>
                <a:latin typeface="Microsoft YaHei"/>
              </a:rPr>
              <a:t>我们交付的不是最强的模型，</a:t>
            </a:r>
          </a:p>
          <a:p>
            <a:pPr algn="l">
              <a:lnSpc>
                <a:spcPct val="135000"/>
              </a:lnSpc>
            </a:pPr>
            <a:r>
              <a:rPr sz="3600" b="1" i="0">
                <a:solidFill>
                  <a:srgbClr val="0F1C30"/>
                </a:solidFill>
                <a:latin typeface="Microsoft YaHei"/>
              </a:rPr>
              <a:t>而是在不确定性下做出最理性决策的方法论。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 b="0" i="1">
                <a:solidFill>
                  <a:srgbClr val="646B74"/>
                </a:solidFill>
                <a:latin typeface="Times New Roman"/>
              </a:rPr>
              <a:t>213-day  rolling  +2.95%   ·   t  = +12.05   ·   MD5  consistent  across  3  nodes</a:t>
            </a:r>
          </a:p>
          <a:p>
            <a:pPr algn="l">
              <a:lnSpc>
                <a:spcPct val="180000"/>
              </a:lnSpc>
            </a:pPr>
            <a:r>
              <a:rPr sz="1400" b="0" i="1">
                <a:solidFill>
                  <a:srgbClr val="646B74"/>
                </a:solidFill>
                <a:latin typeface="Times New Roman"/>
              </a:rPr>
              <a:t>code frozen  ·  Phase 4  ·  W1  ready for submission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852160"/>
            <a:ext cx="8961120" cy="0"/>
          </a:xfrm>
          <a:prstGeom prst="line">
            <a:avLst/>
          </a:prstGeom>
          <a:ln w="6350">
            <a:solidFill>
              <a:srgbClr val="CFC3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100" b="1" i="0">
                <a:solidFill>
                  <a:srgbClr val="0F1C30"/>
                </a:solidFill>
                <a:latin typeface="Times New Roman"/>
              </a:rPr>
              <a:t>THU-BDC  2026</a:t>
            </a:r>
            <a:r>
              <a:rPr sz="1100" b="0" i="0">
                <a:solidFill>
                  <a:srgbClr val="646B74"/>
                </a:solidFill>
                <a:latin typeface="Times New Roman"/>
              </a:rPr>
              <a:t>      ·      </a:t>
            </a:r>
            <a:r>
              <a:rPr sz="1100" b="1" i="0">
                <a:solidFill>
                  <a:srgbClr val="0A2E5C"/>
                </a:solidFill>
                <a:latin typeface="Times New Roman"/>
              </a:rPr>
              <a:t>LCF @ NUDT</a:t>
            </a:r>
            <a:r>
              <a:rPr sz="1100" b="0" i="0">
                <a:solidFill>
                  <a:srgbClr val="646B74"/>
                </a:solidFill>
                <a:latin typeface="Times New Roman"/>
              </a:rPr>
              <a:t>      ·      </a:t>
            </a:r>
            <a:r>
              <a:rPr sz="1100" b="0" i="0">
                <a:solidFill>
                  <a:srgbClr val="0F1C30"/>
                </a:solidFill>
                <a:latin typeface="Times New Roman"/>
              </a:rPr>
              <a:t>2026  ·  04  ·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