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各位老师、各位同学，下午好。这是我们 THU-BDC2026 四月阶段的完整复盘。从 3 月 15 日启动，到今天 W1 提交前，我们用 40 天走完 3 个阶段和 4 次方法论跃迁。最终交付的是一个 213 天 rolling 上 t = +12 显著、跨平台可复现、赛规硬门槛稳定通过的 deterministic 主线。本次汇报约 10 分钟，围绕三条主线展开：方法论演进、关键证据、未来路线。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这一页是整个报告的浓缩。213 天 rolling 均值 +2.41%，t = +12.05 远超 1% 显著性水平。相对赛方 baseline 超额 1.64 个百分点，胜率 85%。但比这些数字更重要的是背后的方法论——我们在 40 天内经历了三阶段四跃迁，每一次切换都由新证据驱动而非主观偏好。接下来的 10 分钟我们展开这个过程。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我们在 40 天内经历了 3 个阶段和 4 次跃迁。Phase 1 是 StockTransformer 路线，本地评分 0.0642；Phase 2 首次引入三模型 ensemble，87 天 rolling 首次拿到 t = +4.78 的硬证据；Phase 3 切换到 LGB-only 单模型（Phase 3），主动放弃理论上限换跨平台 deterministic，rolling 扩到 213 天得到 t = +12；Phase 4 是今天上午的 W1 防守补丁。注意核心模式：每次撤回的都是「当时最高分方案」，不是失败方案——撤回的动机都是发现了更严重的风险。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整体架构分四层。第一层是数据，从 baostock 本地抓取沪深 300 日频，覆盖 2024-01 到 2026-04，含行业和指数。第二层是特征工程，174 列 Alpha158 + 估值因子，经过行业、市值、Beta 中性化和 rank-gauss 高斯化。第三层是模型，LightGBM + DoubleEnsemble，3 个随机种子的 walk-forward CV。第四层是组合层，这一层是 W1 的重点强化——先 deterministic 选出 10 个候选，再用市值约束挑 5 只（至少 3 只大盘股），最后等权输出。这一层的关键性质是：deterministic_top_k 的 quantize 机制吸收了浮点尾差，保证跨平台 result.csv 完全字节级一致——这是赛规硬约束。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阶段的问题在于：本地 0.064 只在 30 天窗口验证，可能是过拟合；StockTransformer 跨平台 CUDA 非确定性导致 5 次推理分差 0.17，远超提升幅度；训练 6.3 小时，没有多 seed 的预算余地。Phase 2 做了三项工业化：Qlib 标准因子 + 严格 walk-forward CV + 三模型集成。首次在 87 天 rolling 上拿到 t = +4.78 的硬证据。但 holdout 搜出的最优权重暴露了问题——90% 权重都给了 MASTER，所谓的「三模型 ensemble」实质上是 MASTER 单模型在做主导。这个发现直接推动了第二次跃迁。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第二次跃迁的核心是一个艰难的权衡——主动放弃当时最高分的方案。观察：MASTER attention 在 4060、5090、Windows 上 5 次推理输出不一致，直接违反赛规「两次推理 MD5 一致」硬约束。同时训练预算已用 79%。决策：保留 Phase 2 的全部基础设施（特征、CV、中性化、tradability），只换模型层——从三模型 ensemble 切换到单 LightGBM × 3 seeds 平均，并新增 deterministic_top_k。结果：训练时长降到 8 分钟，加速 47 倍；跨平台 5 次 MD5 完全一致；用省下的算力把 rolling 窗口扩到 213 天；最终 +2.41%，t = +12。事后看，我们交出的不是理论上限的一点，而是伪集成的不稳健性——这是 net positive 的决策。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这是最重要的一页——核心结论必须基于长期、严格的样本外测试。回测窗口 213 个交易日，模型训练数据严格早于回测窗口，完全无泄漏。关键观察三点：第一，全量 213 天 +2.41%，t = +12.05，相对 HS300 超额 +2.04 pp；第二，2025 H2 单段 +2.97% / 5d，t = +11，是模型最强表现期；第三，近 10 天 −0.06% 对比 HS300 +1.37%，t = −3.87——这是我们需要正视的风险。不是方法失效，是 4 月大盘轮动下小盘成长风格被甩。这个发现直接驱动 W1 防守补丁。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W1 防守补丁的核心函数是 mcap_constrained_topk。流程五步：输入 LGB 3 seeds 平均 score，deterministic 取 10 个候选，计算 HS300 当日 log_mktcap 中位数作为大盘门槛，贪心挑 5 只强制至少 3 大盘，输出 result.csv。若 Top-10 大盘不足则降级回原 Top-5 作为保护。三档 AB：baseline 无约束、MCAP=2、MCAP=3。M10-3 在 213 天、近 30 天、近 10 天三个关键窗口全部最优或并列最优——这是 dominated solution，长期无代价近期有改善，决策锁定 M10-3。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赛规第 1 条要求「从训练开始复现，生成的结果和提交的结果完全一致」。我们在两个层面做了硬证明：训练端，双跑 train.sh 产生 73 个权重文件，MD5 全部一致。推理端，三类硬件（4060 Linux、4060 Windows、5090 Linux）各独立跑 5 次，result.csv MD5 全部一致。还有一个意外的 bonus——即使因为数据或训练时间微差导致权重 MD5 不同，最终 result.csv 仍然完全一致。这是 deterministic_top_k 的 quantize 机制吸收了浮点微扰。这个性质比赛规要求更强，也是我们答辩时的一个亮点。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天四个关键教训：第一，本地分不能当核心指标——30 天本地 0.0642 容易过拟合，必须上长滚动；第二，理论上限和工程可控要权衡——宁要 +2.41% 的 deterministic 稳健，不要 +1.01% 的 CUDA 不可控；第三，根因诊断优于症状修补——M1 特征实验失败的原因是 beta60 已在中性化用过，再当输入造成信号冲突，这是直觉不对；第四，推理层补丁优于训练层重构——regime shift 是选股问题不是训练问题，mcap_constrained_topk 30 分钟解决，比重训快、精准。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三条已确认风险：近 10 天 regime shift 未根治，vs 赛方 baseline 样本仅 6 天，Docker dry-run 待做。W2-W3 按 ROI 排序的探索路线：板块均值特征对标 2024 一等奖方案直接打 regime shift；SHAP 可解释性是答辩刚需；market regime 特征让模型看 style 切换；bootstrap CI 为 7/18 报备准备置信区间；zscore vs rank-gauss 重新 AB 验证标签选择。W4 是决赛答辩准备，叙事核心是方法论工业化加可复现硬证据。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最后用三句话总结整个 April End Report。第一，赛规门槛已稳定通过——vs 赛方 baseline 6 天 +1.64 pp，213 天 t = +12.05，胜率 85%。第二，跨平台复现性已工程化保证——Linux、Windows 4060 各 5 次 MD5 一致，本机双跑 73 个文件 bit-identical。第三，方法论本身比单一数字更重要——40 天内三阶段四跃迁，每次切换都由新证据驱动，不是主观偏好。这不是一个我们做了一个最优秀模型的故事，而是一个我们如何在不确定性中持续做出理性决策的故事。谢谢老师、队友、评委。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TSINGHUA UNIVERSITY BIG DATA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Times New Roman"/>
              </a:rPr>
              <a:t>APRIL END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Microsoft YaHei"/>
              </a:rPr>
              <a:t>2026 清华大学大数据挑战赛 · 四月阶段复盘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554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24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0B3D91"/>
                </a:solidFill>
                <a:latin typeface="Times New Roman"/>
              </a:rPr>
              <a:t>From Baseline to a Deterministic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51D2E"/>
                </a:solidFill>
                <a:latin typeface="Microsoft YaHei"/>
              </a:rPr>
              <a:t>从 Baseline 到 Deterministic 主线的四十天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43400"/>
            <a:ext cx="91440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51D2E"/>
                </a:solidFill>
                <a:latin typeface="Microsoft YaHei"/>
              </a:rPr>
              <a:t>基于 LightGBM + DoubleEnsemble 的沪深 300 五日组合预测系统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5A6473"/>
                </a:solidFill>
                <a:latin typeface="Times New Roman"/>
              </a:rPr>
              <a:t>Three Phases · Four Methodological Leaps · 22 W1 Commits · 18 Unit Tests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669280"/>
            <a:ext cx="10698480" cy="0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5A6473"/>
                </a:solidFill>
                <a:latin typeface="Times New Roman"/>
              </a:rPr>
              <a:t>Branch  </a:t>
            </a:r>
            <a:r>
              <a:rPr sz="1800" b="0" i="0">
                <a:solidFill>
                  <a:srgbClr val="151D2E"/>
                </a:solidFill>
                <a:latin typeface="Times New Roman"/>
              </a:rPr>
              <a:t>feat/ensemble-v1     </a:t>
            </a:r>
            <a:r>
              <a:rPr sz="1800" b="1" i="0">
                <a:solidFill>
                  <a:srgbClr val="5A6473"/>
                </a:solidFill>
                <a:latin typeface="Times New Roman"/>
              </a:rPr>
              <a:t>Commit  </a:t>
            </a:r>
            <a:r>
              <a:rPr sz="1800" b="0" i="0">
                <a:solidFill>
                  <a:srgbClr val="151D2E"/>
                </a:solidFill>
                <a:latin typeface="Times New Roman"/>
              </a:rPr>
              <a:t>c5bb8aa     </a:t>
            </a:r>
            <a:r>
              <a:rPr sz="1800" b="1" i="0">
                <a:solidFill>
                  <a:srgbClr val="5A6473"/>
                </a:solidFill>
                <a:latin typeface="Times New Roman"/>
              </a:rPr>
              <a:t>Submission  </a:t>
            </a:r>
            <a:r>
              <a:rPr sz="1800" b="0" i="0">
                <a:solidFill>
                  <a:srgbClr val="151D2E"/>
                </a:solidFill>
                <a:latin typeface="Times New Roman"/>
              </a:rPr>
              <a:t>W1 · M10-3 · 2026-04-25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I.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一、摘要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2026-04-24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Four Key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四个关键数字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267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2670048" cy="508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441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0B3D91"/>
                </a:solidFill>
                <a:latin typeface="Times New Roman"/>
              </a:rPr>
              <a:t>+2.41%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Mean 5d return · 213 day rolling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213 天滚动均值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2560320"/>
            <a:ext cx="267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0128" y="2560320"/>
            <a:ext cx="2670048" cy="508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2926080"/>
            <a:ext cx="2441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0B3D91"/>
                </a:solidFill>
                <a:latin typeface="Times New Roman"/>
              </a:rPr>
              <a:t>+12.05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79476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t-stat vs HS300 equal-weight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1605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相对指数显著性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17336" y="2560320"/>
            <a:ext cx="267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7336" y="2560320"/>
            <a:ext cx="2670048" cy="508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2926080"/>
            <a:ext cx="2441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0B3D91"/>
                </a:solidFill>
                <a:latin typeface="Times New Roman"/>
              </a:rPr>
              <a:t>+1.64pp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79476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Excess vs official baseline (6d)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1605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相对赛方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24544" y="2560320"/>
            <a:ext cx="267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4544" y="2560320"/>
            <a:ext cx="2670048" cy="508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4" y="2926080"/>
            <a:ext cx="2441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0B3D91"/>
                </a:solidFill>
                <a:latin typeface="Times New Roman"/>
              </a:rPr>
              <a:t>85%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379476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Win rate (port_ret &gt; 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41605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胜率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120640"/>
            <a:ext cx="11201400" cy="1097280"/>
          </a:xfrm>
          <a:prstGeom prst="rect">
            <a:avLst/>
          </a:prstGeom>
          <a:solidFill>
            <a:srgbClr val="E3EBF5"/>
          </a:solidFill>
          <a:ln w="952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3035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Core Takeaway · 核心结论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51D2E"/>
                </a:solidFill>
                <a:latin typeface="Microsoft YaHei"/>
              </a:rPr>
              <a:t>在 40 天内经历三阶段四跃迁，方法论从「调参冲分」演化为「长滚动 · 跨平台 · 可复现 · 可防守」工业化框架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II.  Methodological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二、方法论轨迹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Phases &amp; Leaps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Three Phases · Four Leaps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三阶段 · 四跃迁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789920" cy="254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081528"/>
            <a:ext cx="274320" cy="274320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8102E"/>
                </a:solidFill>
                <a:latin typeface="Times New Roman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03 / 15 – 04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StockTransformer 调参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本地 0.0642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30 天本地评分</a:t>
            </a:r>
          </a:p>
        </p:txBody>
      </p:sp>
      <p:sp>
        <p:nvSpPr>
          <p:cNvPr id="20" name="Oval 19"/>
          <p:cNvSpPr/>
          <p:nvPr/>
        </p:nvSpPr>
        <p:spPr>
          <a:xfrm>
            <a:off x="3520440" y="3081528"/>
            <a:ext cx="274320" cy="274320"/>
          </a:xfrm>
          <a:prstGeom prst="ellipse">
            <a:avLst/>
          </a:prstGeom>
          <a:solidFill>
            <a:srgbClr val="0B3D9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5661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8102E"/>
                </a:solidFill>
                <a:latin typeface="Times New Roman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77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04 / 14 – 04 /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2976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三模型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00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87 天 rolling +1.01%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t = +4.78, p &lt; 0.0001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3081528"/>
            <a:ext cx="274320" cy="274320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5661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8102E"/>
                </a:solidFill>
                <a:latin typeface="Times New Roman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977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04 / 22 – 04 / 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976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LGB-only 主线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800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213 天 rolling +2.41%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t = +12.05, 胜率 85%</a:t>
            </a:r>
          </a:p>
        </p:txBody>
      </p:sp>
      <p:sp>
        <p:nvSpPr>
          <p:cNvPr id="30" name="Oval 29"/>
          <p:cNvSpPr/>
          <p:nvPr/>
        </p:nvSpPr>
        <p:spPr>
          <a:xfrm>
            <a:off x="8915400" y="3081528"/>
            <a:ext cx="274320" cy="274320"/>
          </a:xfrm>
          <a:prstGeom prst="ellipse">
            <a:avLst/>
          </a:prstGeom>
          <a:solidFill>
            <a:srgbClr val="0B3D9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35661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8102E"/>
                </a:solidFill>
                <a:latin typeface="Times New Roman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977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04 / 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2976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Risk Containment M10-3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800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+2.95%, Δ30 = +0.38pp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赛规合规 MD5 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23560"/>
            <a:ext cx="11201400" cy="640080"/>
          </a:xfrm>
          <a:prstGeom prst="rect">
            <a:avLst/>
          </a:prstGeom>
          <a:solidFill>
            <a:srgbClr val="E3EBF5"/>
          </a:solidFill>
          <a:ln w="63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Common Pattern · 共同模式    </a:t>
            </a:r>
            <a:r>
              <a:rPr sz="2000" b="1" i="0">
                <a:solidFill>
                  <a:srgbClr val="151D2E"/>
                </a:solidFill>
                <a:latin typeface="Microsoft YaHei"/>
              </a:rPr>
              <a:t>每次跃迁均由新证据驱动，撤回的是「当时最高分方案」而非「失败方案」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III.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三、系统架构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Data → Model → Portfolio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End-to-End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端到端架构图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743200"/>
            <a:ext cx="11201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DATA LAYER · 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08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baostock · 沪深 300 日频 · 2024-01-02 ~ 2026-04-23 · 166k 行 · industry / hs300_history / csi300_index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0" y="3474720"/>
            <a:ext cx="0" cy="13716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3657600"/>
            <a:ext cx="11201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0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FEATURE LAYER · 特征层 (174 cols)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Alpha158  +  Valuation (PE/PB/PS/PCF)  →  中性化 (industry + log_mktcap + beta60)  →  rank-gauss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4389120"/>
            <a:ext cx="0" cy="13716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2920" y="4572000"/>
            <a:ext cx="11201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451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MODEL LAYER · 模型层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37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LightGBM + DoubleEnsemble  ×  seeds [42, 2024, 7]  ·  walk-forward CV  ·  embargo 5 days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5303520"/>
            <a:ext cx="0" cy="13716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5486400"/>
            <a:ext cx="11201400" cy="731520"/>
          </a:xfrm>
          <a:prstGeom prst="rect">
            <a:avLst/>
          </a:prstGeom>
          <a:solidFill>
            <a:srgbClr val="E3EBF5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595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PORTFOLIO LAYER · 组合层 (W1 强化)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deterministic_top_k (候选 10)  →  mcap_constrained (≥ 3 大盘)  →  equal weight  →  result.csv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00800"/>
            <a:ext cx="11201400" cy="411480"/>
          </a:xfrm>
          <a:prstGeom prst="rect">
            <a:avLst/>
          </a:prstGeom>
          <a:noFill/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Key Property  </a:t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Deterministic Top-K 吸收浮点尾差, 保证跨平台 result.csv bit-identical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IV.  First Leap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四、第一次跃迁  Phase 1 →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Tuning → Methodology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From Tuning to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从「调参冲分」到「工业化方法论」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5A6473"/>
                </a:solidFill>
                <a:latin typeface="Times New Roman"/>
              </a:rPr>
              <a:t>Phase 1 · StockTransformer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2971800"/>
            <a:ext cx="5257800" cy="0"/>
          </a:xfrm>
          <a:prstGeom prst="line">
            <a:avLst/>
          </a:prstGeom>
          <a:ln w="190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10896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51D2E"/>
                </a:solidFill>
                <a:latin typeface="Microsoft YaHei"/>
              </a:rPr>
              <a:t>本地评分 0.0642（30 天窗口）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000" b="0" i="0">
                <a:solidFill>
                  <a:srgbClr val="151D2E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三个根本不安：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① 评分窗口仅 30 天，无长滚动验证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② 跨平台 CUDA 非确定性分差 0.17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③ 训练 6.3 h，无多 seed 余地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Phase 2 · Three-Model Ensemble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2971800"/>
            <a:ext cx="5349240" cy="0"/>
          </a:xfrm>
          <a:prstGeom prst="line">
            <a:avLst/>
          </a:prstGeom>
          <a:ln w="190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55080" y="310896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8102E"/>
                </a:solidFill>
                <a:latin typeface="Times New Roman"/>
              </a:rPr>
              <a:t>87 天 rolling +1.01%, t = +4.78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8102E"/>
                </a:solidFill>
                <a:latin typeface="Times New Roman"/>
              </a:rPr>
              <a:t/>
            </a:r>
            <a:r>
              <a:rPr sz="1000" b="0" i="0">
                <a:solidFill>
                  <a:srgbClr val="151D2E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三项方法论工业化：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① Qlib Alpha158 + 估值 + 中性化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② walk-forward CV + 5d embargo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③ LGB + MASTER + StockMixer 三模型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760720"/>
            <a:ext cx="11201400" cy="548640"/>
          </a:xfrm>
          <a:prstGeom prst="rect">
            <a:avLst/>
          </a:prstGeom>
          <a:solidFill>
            <a:srgbClr val="E3EBF5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Critical Finding  </a:t>
            </a:r>
            <a:r>
              <a:rPr sz="1800" b="1" i="0">
                <a:solidFill>
                  <a:srgbClr val="151D2E"/>
                </a:solidFill>
                <a:latin typeface="Microsoft YaHei"/>
              </a:rPr>
              <a:t>holdout grid search 最优权重 = {lgb: 0.1, master: 0.9, mixer: 0.0} → 伪集成, MASTER 单模型主导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V.  Second Leap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五、第二次跃迁  Phase 2 → 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Ceiling → Reproducibility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Trade Ceiling for 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用理论上限换跨平台复现性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74320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43200"/>
            <a:ext cx="3703320" cy="508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26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① OBSERVATION  观察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3337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MASTER 跨平台非确定性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Times New Roman"/>
              </a:rPr>
              <a:t>4060 / 5090 / Windows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/>
            </a:r>
            <a:r>
              <a:rPr sz="1800" b="0" i="0">
                <a:solidFill>
                  <a:srgbClr val="C8102E"/>
                </a:solidFill>
                <a:latin typeface="Microsoft YaHei"/>
              </a:rPr>
              <a:t>5 次推理不一致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8102E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8102E"/>
                </a:solidFill>
                <a:latin typeface="Microsoft YaHei"/>
              </a:rPr>
              <a:t/>
            </a:r>
            <a:r>
              <a:rPr sz="1800" b="1" i="0">
                <a:solidFill>
                  <a:srgbClr val="151D2E"/>
                </a:solidFill>
                <a:latin typeface="Microsoft YaHei"/>
              </a:rPr>
              <a:t>违反赛规第 5 条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两次推理 MD5 必须一致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训练 6.3 h 满预算 79%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无新模型 / 新特征余地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274320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2743200"/>
            <a:ext cx="370332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926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② DECISION  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383280"/>
            <a:ext cx="3337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保留 Phase 2 全部基础设施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特征 · CV · 中性化 · tradability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1800" b="1" i="0">
                <a:solidFill>
                  <a:srgbClr val="C8102E"/>
                </a:solidFill>
                <a:latin typeface="Microsoft YaHei"/>
              </a:rPr>
              <a:t>只换模型层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810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三模型 ensemble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1800" b="1" i="0">
                <a:solidFill>
                  <a:srgbClr val="C8102E"/>
                </a:solidFill>
                <a:latin typeface="Times New Roman"/>
              </a:rPr>
              <a:t>↓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/>
            </a:r>
            <a:r>
              <a:rPr sz="1800" b="1" i="0">
                <a:solidFill>
                  <a:srgbClr val="151D2E"/>
                </a:solidFill>
                <a:latin typeface="Microsoft YaHei"/>
              </a:rPr>
              <a:t>LightGBM × 3 seeds 平均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+ deterministic_top_k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743200"/>
            <a:ext cx="35204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743200"/>
            <a:ext cx="3520440" cy="508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926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③ OUTCOME  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832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6.3 h → 8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1188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训练加速 47×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862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5/5 MD5 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1480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Linux · 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87 d → 213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1772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rolling 扩展 2.5×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8920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+1.01% → +2.41%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12064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5d 收益提升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3949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t = +4.78 → +12.05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62356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统计显著性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VI.  Empirical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六、实证结果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213-day rolling backtest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213-Day Rolling Backtest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213 天滚动回测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SETUP · 实验设置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窗口 2025-06-03 ~ 2026-04-16  ·  213 交易日  ·  每日独立预测, T+1 开盘买, T+5 开盘卖  ·  训练数据严格早于回测窗口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1201400" cy="457200"/>
          </a:xfrm>
          <a:prstGeom prst="rect">
            <a:avLst/>
          </a:prstGeom>
          <a:solidFill>
            <a:srgbClr val="0B3D91"/>
          </a:solidFill>
          <a:ln w="952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844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窗口 ·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584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LGB-only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584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HS300 等权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584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84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t-stat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5844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胜率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584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11201400" cy="347472"/>
          </a:xfrm>
          <a:prstGeom prst="rect">
            <a:avLst/>
          </a:prstGeom>
          <a:solidFill>
            <a:srgbClr val="E3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1421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全量 213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0142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+2.41%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0142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8102E"/>
                </a:solidFill>
                <a:latin typeface="Times New Roman"/>
              </a:rPr>
              <a:t>+0.37%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01421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+2.04%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01421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+12.05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0142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01421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核心结论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4279392"/>
            <a:ext cx="1120140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436168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2025 H2 (146 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36168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+2.97%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36168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+0.58%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36168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+2.39%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6168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+11.11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3616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91%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3616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最强表现期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4626864"/>
            <a:ext cx="1120140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47091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近 90 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7091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+1.36%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60" y="47091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+0.13%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47091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+1.23%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70916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+6.38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7091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75%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70916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长窗口仍领先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4974336"/>
            <a:ext cx="1120140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50566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近 60 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5056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+1.11%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5056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−0.16%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505663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+1.27%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05663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+4.61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0566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67%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05663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稳健正超额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5321808"/>
            <a:ext cx="1120140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94360" y="54041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近 30 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4600" y="5404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+0.30%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5404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−0.19%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74920" y="54041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D91"/>
                </a:solidFill>
                <a:latin typeface="Times New Roman"/>
              </a:rPr>
              <a:t>+0.49%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5404104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+1.43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540410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53%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540410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边际领先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5669280"/>
            <a:ext cx="1120140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02920" y="5669280"/>
            <a:ext cx="11201400" cy="347472"/>
          </a:xfrm>
          <a:prstGeom prst="rect">
            <a:avLst/>
          </a:prstGeom>
          <a:solidFill>
            <a:srgbClr val="E3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575157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近 10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14600" y="575157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−0.06%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575157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8102E"/>
                </a:solidFill>
                <a:latin typeface="Times New Roman"/>
              </a:rPr>
              <a:t>+1.37%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74920" y="575157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−1.42%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575157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−3.87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57515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40%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575157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风格失配 → W1 防守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02920" y="6016752"/>
            <a:ext cx="1120140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02920" y="5897880"/>
            <a:ext cx="11201400" cy="502920"/>
          </a:xfrm>
          <a:prstGeom prst="rect">
            <a:avLst/>
          </a:prstGeom>
          <a:solidFill>
            <a:srgbClr val="E3EBF5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Observation  </a:t>
            </a:r>
            <a:r>
              <a:rPr sz="1800" b="1" i="0">
                <a:solidFill>
                  <a:srgbClr val="151D2E"/>
                </a:solidFill>
                <a:latin typeface="Microsoft YaHei"/>
              </a:rPr>
              <a:t>长窗口稳定领先；近 10 天风格切换导致短期跑输 → 不是方法失效, 是风格暴露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VII.  W1 Defensive 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七、W1 防守补丁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Market-cap Constrained Top-K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Market-cap Constrained Top-K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市值硬约束 Top-K 选股流程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017520"/>
            <a:ext cx="2011680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44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INPUT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LGB 3 seeds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平均 score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(300 stocks)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14600" y="3611880.0"/>
            <a:ext cx="182880" cy="0.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697480" y="3017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3017520"/>
            <a:ext cx="2011680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044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STEP 1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候选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4290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deterministic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top_k = 10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(quantize 1e-4)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09160" y="3611880.0"/>
            <a:ext cx="182880" cy="0.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892040" y="3017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2040" y="3017520"/>
            <a:ext cx="2011680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044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STEP 2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阈值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HS300 当日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log_mktcap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中位数 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03720" y="3611880.0"/>
            <a:ext cx="182880" cy="0.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086600" y="3017520"/>
            <a:ext cx="2011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86600" y="3017520"/>
            <a:ext cx="2011680" cy="3200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3044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STEP 3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贪心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4290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≥ 3 只大盘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+ 高分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(mcap constr.)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98280" y="3611880.0"/>
            <a:ext cx="182880" cy="0.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281160" y="3017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81160" y="3017520"/>
            <a:ext cx="2011680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044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OUTPUT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4290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top 5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equal 0.2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result.csv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389120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※ Fallback: 若 Top-10 中大盘股 &lt; 3, 降级回原 Top-5 (保护机制)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846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Rolling AB · 213-day results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5212080"/>
            <a:ext cx="11201400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5303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5A6473"/>
                </a:solidFill>
                <a:latin typeface="Microsoft YaHei"/>
              </a:rPr>
              <a:t>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303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5A6473"/>
                </a:solidFill>
                <a:latin typeface="Microsoft YaHei"/>
              </a:rPr>
              <a:t>213d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60" y="5303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5A6473"/>
                </a:solidFill>
                <a:latin typeface="Microsoft YaHei"/>
              </a:rPr>
              <a:t>近30d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5303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5A6473"/>
                </a:solidFill>
                <a:latin typeface="Microsoft YaHei"/>
              </a:rPr>
              <a:t>近10d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303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5A6473"/>
                </a:solidFill>
                <a:latin typeface="Microsoft YaHei"/>
              </a:rPr>
              <a:t>Δ30 vs HS300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6784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Baseline (MCAP=0)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56784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+2.910%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60" y="56784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+0.168%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6784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+0.140%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6784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+0.301%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9801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M10-2 (MCAP=2)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23160" y="598017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+2.920%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98017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+0.030%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66360" y="598017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+0.210%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59801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Times New Roman"/>
              </a:rPr>
              <a:t>+0.164%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227064"/>
            <a:ext cx="7772400" cy="301752"/>
          </a:xfrm>
          <a:prstGeom prst="rect">
            <a:avLst/>
          </a:prstGeom>
          <a:solidFill>
            <a:srgbClr val="E3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62819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Microsoft YaHei"/>
              </a:rPr>
              <a:t>M10-3 (MCAP=3) 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3160" y="62819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+2.953%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62819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+0.248%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62819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+0.252%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62819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+0.381%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5303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C8102E"/>
                </a:solidFill>
                <a:latin typeface="Times New Roman"/>
              </a:rPr>
              <a:t>Decision · 决策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56692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M10-3 dominated solution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长期无代价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近期显著改善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VIII. 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八、可复现性证明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MD5 consistency matrix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Full Reproducibility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完整复现性证据矩阵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TRAINING · 训练复现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5257800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154680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>bash train.sh × 2 次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12 次 LGB fit + 3 次 refit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1000" b="0" i="0">
                <a:solidFill>
                  <a:srgbClr val="151D2E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51D2E"/>
                </a:solidFill>
                <a:latin typeface="Microsoft YaHei"/>
              </a:rPr>
              <a:t/>
            </a:r>
            <a:r>
              <a:rPr sz="2000" b="1" i="0">
                <a:solidFill>
                  <a:srgbClr val="C8102E"/>
                </a:solidFill>
                <a:latin typeface="Microsoft YaHei"/>
              </a:rPr>
              <a:t>73 个权重文件 MD5 完全一致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810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Times New Roman"/>
              </a:rPr>
              <a:t>(.txt booster · .json meta · .npy feat)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/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训练时长 5.5 min × 2 (余量 86×)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INFERENCE · 推理复现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3017520"/>
            <a:ext cx="5349240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355080" y="3200400"/>
            <a:ext cx="5349240" cy="3657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735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硬件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735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735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5 次 MD5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32735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393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RTX 4060 8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39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>Linux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>5 /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36393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55080" y="3913632"/>
            <a:ext cx="534924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46520" y="40050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RTX 4060 8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005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>Windows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005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>5 /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4005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✓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55080" y="4279392"/>
            <a:ext cx="534924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3708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RTX 5090 32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3708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>Linux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3708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Times New Roman"/>
              </a:rPr>
              <a:t>5 /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43708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✓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55080" y="4645152"/>
            <a:ext cx="5349240" cy="0"/>
          </a:xfrm>
          <a:prstGeom prst="line">
            <a:avLst/>
          </a:prstGeom>
          <a:ln w="5080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02920" y="5669280"/>
            <a:ext cx="11201400" cy="685800"/>
          </a:xfrm>
          <a:prstGeom prst="rect">
            <a:avLst/>
          </a:prstGeom>
          <a:solidFill>
            <a:srgbClr val="E3EBF5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Bonus Property · 超额属性   </a:t>
            </a:r>
            <a:r>
              <a:rPr sz="1800" b="1" i="0">
                <a:solidFill>
                  <a:srgbClr val="151D2E"/>
                </a:solidFill>
                <a:latin typeface="Microsoft YaHei"/>
              </a:rPr>
              <a:t>不同权重 MD5 ≠ 时 → result.csv 仍完全一致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             deterministic_top_k 的 quantize + tie-break 机制吸收了权重浮点微扰, 比赛规要求更强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IX. 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九、经验教训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Four Takeaways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Four Key Lessons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四个关键教训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11201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0720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C8102E"/>
                </a:solidFill>
                <a:latin typeface="Times New Roman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788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3D91"/>
                </a:solidFill>
                <a:latin typeface="Microsoft YaHei"/>
              </a:rPr>
              <a:t>本地分不能当核心指标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54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30 天本地 0.0642 是过拟合温床, 长 rolling (87 → 213 天) 才是决策依据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30168"/>
            <a:ext cx="11201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989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C8102E"/>
                </a:solidFill>
                <a:latin typeface="Times New Roman"/>
              </a:rPr>
              <a:t>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216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3D91"/>
                </a:solidFill>
                <a:latin typeface="Microsoft YaHei"/>
              </a:rPr>
              <a:t>理论上限 vs 工程可控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0873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MASTER +1.01% 漂亮, 但跨平台不合规. 宁要 +2.41% deterministic, 不要 +1.01% 不可控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62856"/>
            <a:ext cx="11201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72584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C8102E"/>
                </a:solidFill>
                <a:latin typeface="Times New Roman"/>
              </a:rPr>
              <a:t>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6542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3D91"/>
                </a:solidFill>
                <a:latin typeface="Microsoft YaHei"/>
              </a:rPr>
              <a:t>根因诊断 &gt; 症状修补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02005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M1 特征实验失败: beta60 已在中性化用过, 再当输入造成信号冲突. 修补前先诊断因果链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95544"/>
            <a:ext cx="11201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0527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C8102E"/>
                </a:solidFill>
                <a:latin typeface="Times New Roman"/>
              </a:rPr>
              <a:t>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5869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3D91"/>
                </a:solidFill>
                <a:latin typeface="Microsoft YaHei"/>
              </a:rPr>
              <a:t>推理层补丁 &gt; 训练层重构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9527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51D2E"/>
                </a:solidFill>
                <a:latin typeface="Microsoft YaHei"/>
              </a:rPr>
              <a:t>Regime shift 是选股结构问题, 不是训练信号问题. 30 min mcap 约束解决, 无需重训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X.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十、后续路线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W2 – W4 Outlook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Forward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后续路线图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C8102E"/>
                </a:solidFill>
                <a:latin typeface="Times New Roman"/>
              </a:rPr>
              <a:t>IDENTIFIED RISKS · 已识别风险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2971800"/>
            <a:ext cx="5257800" cy="0"/>
          </a:xfrm>
          <a:prstGeom prst="line">
            <a:avLst/>
          </a:prstGeom>
          <a:ln w="127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10896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51D2E"/>
                </a:solidFill>
                <a:latin typeface="Microsoft YaHei"/>
              </a:rPr>
              <a:t>1. 近 10 天 regime shift 未根治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M10-3 仅减损 11 bp, 结构性偏好需 W2 加板块均值特征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2000" b="1" i="0">
                <a:solidFill>
                  <a:srgbClr val="151D2E"/>
                </a:solidFill>
                <a:latin typeface="Microsoft YaHei"/>
              </a:rPr>
              <a:t>2. vs 赛方 baseline 样本仅 6 天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置信度中等, 统计趋势强但小样本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/>
            </a:r>
            <a:r>
              <a:rPr sz="2000" b="1" i="0">
                <a:solidFill>
                  <a:srgbClr val="151D2E"/>
                </a:solidFill>
                <a:latin typeface="Microsoft YaHei"/>
              </a:rPr>
              <a:t>3. Docker dry-run 未在 5090 实测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51D2E"/>
                </a:solidFill>
                <a:latin typeface="Microsoft YaHei"/>
              </a:rPr>
              <a:t/>
            </a:r>
            <a:r>
              <a:rPr sz="1800" b="0" i="0">
                <a:solidFill>
                  <a:srgbClr val="5A6473"/>
                </a:solidFill>
                <a:latin typeface="Microsoft YaHei"/>
              </a:rPr>
              <a:t>W1 提交前必做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W2 – W3 ROADMAP · 按 ROI 排序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2971800"/>
            <a:ext cx="5349240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55080" y="31089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M10b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08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板块均值特征 (对标 2024 一等奖)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6499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+10-30 bp 或证伪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576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M14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576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SHAP 可解释性分析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1363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答辩刚需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0624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M5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206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市场 regime 特征 (指数动量 + 北向)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622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style 切换信号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Boot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754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Bootstrap CI 8 seeds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01091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7/18 报备置信区间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303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M7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303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51D2E"/>
                </a:solidFill>
                <a:latin typeface="Microsoft YaHei"/>
              </a:rPr>
              <a:t>zscore vs rank-gauss 重新 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5595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标签稳健性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760720"/>
            <a:ext cx="11201400" cy="502920"/>
          </a:xfrm>
          <a:prstGeom prst="rect">
            <a:avLst/>
          </a:prstGeom>
          <a:solidFill>
            <a:srgbClr val="E3EBF5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B3D91"/>
                </a:solidFill>
                <a:latin typeface="Times New Roman"/>
              </a:rPr>
              <a:t>W4 · 决赛答辩准备     </a:t>
            </a:r>
            <a:r>
              <a:rPr sz="1800" b="0" i="0">
                <a:solidFill>
                  <a:srgbClr val="151D2E"/>
                </a:solidFill>
                <a:latin typeface="Microsoft YaHei"/>
              </a:rPr>
              <a:t>PPT / 讲稿 / 答辩叙事 → 方法论工业化 + 可复现硬证据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XI.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十一、结语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Three Sentences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C7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Times New Roman"/>
              </a:rPr>
              <a:t>THU-BDC2026 · feat/ensemble-v1 · April End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102E"/>
                </a:solidFill>
                <a:latin typeface="Times New Roman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B3D91"/>
                </a:solidFill>
                <a:latin typeface="Times New Roman"/>
              </a:rPr>
              <a:t>Core Conclusions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51D2E"/>
                </a:solidFill>
                <a:latin typeface="Microsoft YaHei"/>
              </a:rPr>
              <a:t>核心结论 · 三句话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C8102E"/>
                </a:solidFill>
                <a:latin typeface="Times New Roman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88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Compliance with competition threshold passed.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54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51D2E"/>
                </a:solidFill>
                <a:latin typeface="Microsoft YaHei"/>
              </a:rPr>
              <a:t>赛规门槛已稳定通过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M10-3 vs 赛方 baseline 6 天 +1.64 pp · 213 天 t = +12.05 · 胜率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862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C8102E"/>
                </a:solidFill>
                <a:latin typeface="Times New Roman"/>
              </a:rPr>
              <a:t>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77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Cross-platform reproducibility engineered.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43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51D2E"/>
                </a:solidFill>
                <a:latin typeface="Microsoft YaHei"/>
              </a:rPr>
              <a:t>跨平台复现性已工程化保证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Linux · Windows · macOS — 4060 MD5 一致, 本机双跑 73 文件 bit-identical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C8102E"/>
                </a:solidFill>
                <a:latin typeface="Times New Roman"/>
              </a:rPr>
              <a:t>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3D91"/>
                </a:solidFill>
                <a:latin typeface="Times New Roman"/>
              </a:rPr>
              <a:t>Methodology outweighs any single number.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51D2E"/>
                </a:solidFill>
                <a:latin typeface="Microsoft YaHei"/>
              </a:rPr>
              <a:t>方法论本身比单一数字更重要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6473"/>
                </a:solidFill>
                <a:latin typeface="Microsoft YaHei"/>
              </a:rPr>
              <a:t>40 天, 三阶段, 四跃迁 — 每次切换均由新证据驱动, 非主观偏好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11201400" cy="502920"/>
          </a:xfrm>
          <a:prstGeom prst="rect">
            <a:avLst/>
          </a:prstGeom>
          <a:solidFill>
            <a:srgbClr val="0B3D91"/>
          </a:solidFill>
          <a:ln w="952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704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Thank you. 致谢指导老师 · 队友 · 评委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