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各位老师、各位评委下午好。</a:t>
            </a:r>
          </a:p>
          <a:p>
            <a:r>
              <a:t>我们这次答辩的主题不是我们做了一个最优秀的模型，而是：我们如何用方法论的两次跃迁，把一个本地分 0.064 的模型，演化为一个长滚动 213 天 t=+12 显著、跨平台可复现、并能在赛规硬门槛上稳定跑赢官方 baseline 的 deterministic 主线。</a:t>
            </a:r>
          </a:p>
          <a:p/>
          <a:p>
            <a:r>
              <a:t>整个汇报围绕三个问题展开：第一，我们经历了哪两次关键跃迁；第二，每一次跃迁的证据基础是什么；第三，提交前 24 小时的 W1 防守补丁解决了什么具体风险。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这一页是整个答辩的浓缩。我们最终提交的 M10-3 配置在 213 个交易日 rolling 上 5 日组合收益均值 +2.95%，相对 HS300 等权基准 t = +12，胜率 87%。在与官方 baseline 6 个交易日的重叠对比中，超额 +1.64 个百分点。</a:t>
            </a:r>
          </a:p>
          <a:p/>
          <a:p>
            <a:r>
              <a:t>整个进展由两次跃迁推动：第一次从 v1 阶段的单 Transformer 调参，跃迁到 M1 阶段的三模型 ensemble，首次拿到 t = +4.78 的统计显著证据；第二次从 M1 跃迁到 M5 LGB-only，主动放弃理论上限换取跨平台 deterministic 复现性，并用省下的算力换长 rolling 验证。</a:t>
            </a:r>
          </a:p>
          <a:p>
            <a:r>
              <a:t>最后 24 小时新增的 W1 防守补丁 M10-3，专门处理近 10 天大盘风格轮动带来的结构性风险。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在介绍方法之前，我们先把赛题精确化。任务是给出 5 只成分股的组合权重，按 T+1 开盘买入、T+5 开盘卖出结算。评分的硬门槛只有一个——跑赢主办方提供的 StockTransformer baseline。</a:t>
            </a:r>
          </a:p>
          <a:p/>
          <a:p>
            <a:r>
              <a:t>这一页右栏是关键：赛规中两次推理 MD5 一致这一条直接否决了任何 GPU 非确定性的方案；训练 8 小时、推理 5 分钟的预算迫使我们在多模型集成与多 seed 长 CV 之间做选择。</a:t>
            </a:r>
          </a:p>
          <a:p>
            <a:r>
              <a:t>这两条约束，是我们最终选择 LightGBM 单模型 + 多 seed 平均路线的根本原因——并不是因为 Transformer 不好，而是因为 Transformer 在赛规约束下不可控。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这一页给出第二阶段的时间轴。我们用 14 天走过五个里程碑。</a:t>
            </a:r>
          </a:p>
          <a:p/>
          <a:p>
            <a:r>
              <a:t>M0 是本地分审判——v1 阶段我们曾经把本地评分 0.064 当核心指标，但跨平台测试发现 5 次推理输出不一致，分差 0.17 远超提升幅度，这意味着本地分本身不可信。</a:t>
            </a:r>
          </a:p>
          <a:p/>
          <a:p>
            <a:r>
              <a:t>M1 阶段我们引入 LGB + MASTER + StockMixer 三模型 ensemble，配合 walk-forward CV + 5 天 embargo，第一次拿到了 t = +4.78 的统计显著证据。但 holdout grid search 的最优权重是 {0.1, 0.9, 0.0}——所谓的集成其实是 MASTER 单模型在做主导。</a:t>
            </a:r>
          </a:p>
          <a:p/>
          <a:p>
            <a:r>
              <a:t>M2 的关键决策是：既然如此，与其用一个跨平台不可控的 MASTER，不如直接用 deterministic 的 LGB——训练时长从 6.3 小时降到 8 分钟。</a:t>
            </a:r>
          </a:p>
          <a:p/>
          <a:p>
            <a:r>
              <a:t>M3-M4 完成跨平台验证和 213 天长 rolling，得出 +2.41% / t = +12 的稳健结论。M5 是今天上午做完的 W1 防守补丁。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第一次跃迁的核心是方法论本身的工业化。</a:t>
            </a:r>
          </a:p>
          <a:p/>
          <a:p>
            <a:r>
              <a:t>v1 阶段我们用赛方原版的 158+39 特征、StockTransformer、zscore 标签、linear 配权，本地评分 0.064。但这个评分有三个根本不安：评分窗口只有 30 天，没有长期 rolling 验证；StockTransformer 跨平台 CUDA 非确定性，分差 0.17 远超提升幅度；训练耗时 6.3 小时，没有多 seed 余地。</a:t>
            </a:r>
          </a:p>
          <a:p/>
          <a:p>
            <a:r>
              <a:t>M1 阶段做了三件事：重构特征（Qlib Alpha158 + Alpha360 + 估值 + 市场 63 维 + 中性化 + rank-gauss）；严格 CV（3 段 walk-forward + 5 天 embargo + 20 天 holdout）；三模型 rank-blend。</a:t>
            </a:r>
          </a:p>
          <a:p>
            <a:r>
              <a:t>结果是 87 天滚动回测 +1.01% / 5d，t = +4.78，p &lt; 0.0001。这是项目第一次有硬证据。</a:t>
            </a:r>
          </a:p>
          <a:p/>
          <a:p>
            <a:r>
              <a:t>但 M1 也暴露了致命弱点——holdout 单纯形搜出来的最优权重是 {0.1, 0.9, 0.0}，实质是 MASTER 一个模型在跑。这为第二次跃迁埋下伏笔。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第二次跃迁是更艰难的决策——主动放弃当时最高分的方案。</a:t>
            </a:r>
          </a:p>
          <a:p/>
          <a:p>
            <a:r>
              <a:t>发现的两个事实迫使我们行动：第一，M1 的集成实质是 MASTER 单模型，单点失败风险极高；第二，MASTER 在 4060 / 5090 / Windows 上 5 次推理输出不一致，直接违反赛规 MD5 一致硬约束。</a:t>
            </a:r>
          </a:p>
          <a:p/>
          <a:p>
            <a:r>
              <a:t>M5 决策：保留 M1 的全部基础设施（特征工程、walk-forward CV、中性化、tradability filter、transaction cost），只把模型层从三模型 ensemble 换成 LightGBM + DoubleEnsemble × 3 seeds 平均。</a:t>
            </a:r>
          </a:p>
          <a:p/>
          <a:p>
            <a:r>
              <a:t>代价：理论上限可能下降一点。收益：训练时长降到 8 分钟节省 47 倍，跨平台 MD5 完全一致，节省的算力换得更长 rolling 从 87 天扩到 213 天。最终长 rolling +2.41% / t ≈ +12。</a:t>
            </a:r>
          </a:p>
          <a:p/>
          <a:p>
            <a:r>
              <a:t>事后看，我们交出的不是理论上限的一点，而是伪集成的不稳健性——这是 net positive 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这是最重要的一页——我们的核心结论必须基于长期、严格的样本外测试，不能基于训练集。</a:t>
            </a:r>
          </a:p>
          <a:p/>
          <a:p>
            <a:r>
              <a:t>回测设置：评估窗口 2025-06-03 至 2026-04-16，共 213 个交易日；模型训练数据严格早于回测窗口，无任何泄漏；每天独立预测、按 T+1 开盘买 T+5 开盘卖结算。</a:t>
            </a:r>
          </a:p>
          <a:p/>
          <a:p>
            <a:r>
              <a:t>关键观察有三点：第一，全量 213 天 +2.41%，t = +12.05，相对 HS300 超额 +2.04 个百分点；第二，2025 H2 单段达到 +2.97% / 5d，t = +11，是模型最强表现期；第三，唯独近 10 天明显失效——模型 -0.06% 对比 HS300 +1.37%，t = -3.87。</a:t>
            </a:r>
          </a:p>
          <a:p/>
          <a:p>
            <a:r>
              <a:t>诚实地讲：方法本身没问题，但市场近期出现了一次小盘到大盘的风格切换，模型偏好与近期市场风格出现结构性偏离。这是下一页要展开的。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我们没有把近 10 天 -1.42% 当噪声扫到地毯下，而是做了 regime 归因。</a:t>
            </a:r>
          </a:p>
          <a:p/>
          <a:p>
            <a:r>
              <a:t>事实：2026 年 4 月以来，HS300 近 10 天累计 +1.37%，但内部分化极大——大盘股 +1.8%，小盘股 -0.6%。我们 LGB 选出的 Top-5 在这 10 天有 4/5 落在小盘成长。</a:t>
            </a:r>
          </a:p>
          <a:p/>
          <a:p>
            <a:r>
              <a:t>因果链：LGB 在 2025 H2 的强表现，本质是抓住了小盘成长这条主线。当 4 月发生大盘蓝筹轮动时，模型选股结构没有自适应。这不是模型失效，是模型偏好与近期市场风格出现结构性错配。</a:t>
            </a:r>
          </a:p>
          <a:p/>
          <a:p>
            <a:r>
              <a:t>为什么不重训？我们做过对照实验——把 beta60 + log_mktcap 加进特征，结果所有窗口都变差。这两个因子已经在中性化里被用过一次，再当输入会造成信号重复冲突。</a:t>
            </a:r>
          </a:p>
          <a:p>
            <a:r>
              <a:t>结论：根因是推理时的选股结构偏离，不是训练问题——所以解决方案应该在推理层。这是 W1 防守补丁的设计起点。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防守方案设计为推理层 monkey-patch，零侵入主线，env var 控制，零重训。</a:t>
            </a:r>
          </a:p>
          <a:p/>
          <a:p>
            <a:r>
              <a:t>核心函数 mcap_constrained_topk：先按 deterministic top-k 取 Top-10 候选；计算当日 HS300 log_mktcap 中位数为大盘门槛；贪心从 Top-10 中挑 5 只，强制大盘股数 ≥ min_large_cap；若 Top-10 中大盘不足，降级回原 Top-5 作为保护。5 项单元测试覆盖边界情形。</a:t>
            </a:r>
          </a:p>
          <a:p/>
          <a:p>
            <a:r>
              <a:t>三档 AB 对比：Baseline 无约束、M10-2 至少 2 只大盘、M10-3 至少 3 只大盘。M10-3 在所有维度都最优或并列最优：213 天反而 +0.04 pp，不仅没受损还略有提升；近 30 天 +0.08 pp 改善；近 10 天 +0.11 pp 减损。</a:t>
            </a:r>
          </a:p>
          <a:p/>
          <a:p>
            <a:r>
              <a:t>这是一个长期无代价、近期有改善的 dominated solution。提交配置锁定 M10-3。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赛规要求两次推理 MD5 一致。我们在三类硬件上做了完整验证矩阵：Linux 4060、Windows 4060、Linux 5090 主开发机，各 5 次 result.csv MD5 完全一致。</a:t>
            </a:r>
          </a:p>
          <a:p/>
          <a:p>
            <a:r>
              <a:t>实现这个的关键是 deterministic_top_k——浮点 score quantize 到 1e-4 + stock_id 字典序 tie-break，消除 LightGBM 跨平台浮点尾差对选股的影响。</a:t>
            </a:r>
          </a:p>
          <a:p/>
          <a:p>
            <a:r>
              <a:t>工程预算实测：训练从赛规 8 小时降到 8 分钟 60 倍余量；推理 3 分钟内；Docker 镜像约 4 GB，远低于 10 GB 限制；18 项 pytest 全绿。</a:t>
            </a:r>
          </a:p>
          <a:p/>
          <a:p>
            <a:r>
              <a:t>全部位于 feat/ensemble-v1 分支，每个 task 独立 commit，22 个 commit 完整记录方法演化。这体现的是 spec → plan → test → implementation → commit 的 TDD 工作流。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最后用三句话总结：</a:t>
            </a:r>
          </a:p>
          <a:p/>
          <a:p>
            <a:r>
              <a:t>一、赛规门槛已稳定通过：M10-3 vs 赛方 baseline 6 天 +1.64 pp；vs HS300 等权 213 天 t = +12；vs 5 日动量 Top-K 213 天 t = +6.5。</a:t>
            </a:r>
          </a:p>
          <a:p>
            <a:r>
              <a:t>二、跨平台复现性已工程化保证：Linux Windows 4060 各 5 次 MD5 一致，赛规复现要求满足。</a:t>
            </a:r>
          </a:p>
          <a:p>
            <a:r>
              <a:t>三、方法论本身比单一数字更重要：我们用 14 天经历了两次跃迁——从经验调参到工业化方法论，再从理论上限到 deterministic 复现性。每一次切换都由新证据驱动，而非主观偏好。</a:t>
            </a:r>
          </a:p>
          <a:p/>
          <a:p>
            <a:r>
              <a:t>W2-W3 路线图按 ROI 排序：板块均值特征对标 2024 一等奖直接打 regime shift；SHAP 可解释是答辩刚需；市场 regime 特征让模型看到 style 切换；Bootstrap CI 多 seed 稳健化已部分实现。</a:t>
            </a:r>
          </a:p>
          <a:p/>
          <a:p>
            <a:r>
              <a:t>这次答辩展示的是 W1 提交版本的成果。核心叙事是方法论的可演进性——我们不试图在一次提交里给出最优解，而是建立一个能在每周迭代中持续验证、稳健改进的方法论框架。</a:t>
            </a:r>
          </a:p>
          <a:p/>
          <a:p>
            <a:r>
              <a:t>谢谢老师，请评委提问。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Tsinghua Big Data Challenge · MMXXVI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VOL. II · NO. 4 — 24 APR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A DEFENSE OF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A1714"/>
                </a:solidFill>
                <a:latin typeface="Noto Serif SC"/>
              </a:rPr>
              <a:t>从 </a:t>
            </a:r>
            <a:r>
              <a:rPr sz="6600" b="1" i="1">
                <a:solidFill>
                  <a:srgbClr val="8B1A1A"/>
                </a:solidFill>
                <a:latin typeface="Cormorant Garamond"/>
              </a:rPr>
              <a:t>Baseline</a:t>
            </a:r>
            <a:r>
              <a:rPr sz="5400" b="1" i="0">
                <a:solidFill>
                  <a:srgbClr val="1A1714"/>
                </a:solidFill>
                <a:latin typeface="Noto Serif SC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A1714"/>
                </a:solidFill>
                <a:latin typeface="Noto Serif SC"/>
              </a:rPr>
              <a:t>到 </a:t>
            </a:r>
            <a:r>
              <a:rPr sz="6600" b="1" i="1">
                <a:solidFill>
                  <a:srgbClr val="8B1A1A"/>
                </a:solidFill>
                <a:latin typeface="Cormorant Garamond"/>
              </a:rPr>
              <a:t>Deterministic</a:t>
            </a:r>
            <a:r>
              <a:rPr sz="5400" b="1" i="0">
                <a:solidFill>
                  <a:srgbClr val="1A1714"/>
                </a:solidFill>
                <a:latin typeface="Noto Serif SC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A1714"/>
                </a:solidFill>
                <a:latin typeface="Noto Serif SC"/>
              </a:rPr>
              <a:t>主线的两次跃迁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480560"/>
            <a:ext cx="1371600" cy="3175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A2520"/>
                </a:solidFill>
                <a:latin typeface="Noto Serif SC"/>
              </a:rPr>
              <a:t>沪深 300 五日组合预测系统 · LightGBM 单模型路线</a:t>
            </a:r>
          </a:p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2A2520"/>
                </a:solidFill>
                <a:latin typeface="Noto Serif SC"/>
              </a:rPr>
              <a:t>跨平台可复现性 · 长滚动验证 · 提交前防守补丁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BRANCH  </a:t>
            </a:r>
            <a:r>
              <a:rPr sz="1000" b="0" i="0">
                <a:solidFill>
                  <a:srgbClr val="1A1714"/>
                </a:solidFill>
                <a:latin typeface="Consolas"/>
              </a:rPr>
              <a:t>feat/ensemble-v1 · commit d5bfe76     </a:t>
            </a:r>
            <a:r>
              <a:rPr sz="900" b="1" i="0">
                <a:solidFill>
                  <a:srgbClr val="6B5D4F"/>
                </a:solidFill>
                <a:latin typeface="Consolas"/>
              </a:rPr>
              <a:t>SUBMISSION  </a:t>
            </a:r>
            <a:r>
              <a:rPr sz="1000" b="0" i="0">
                <a:solidFill>
                  <a:srgbClr val="1A1714"/>
                </a:solidFill>
                <a:latin typeface="Consolas"/>
              </a:rPr>
              <a:t>W1 · 2026-04-25 · M10-3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I.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02 · 一图看懂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一图看懂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两次跃迁，三组关键数字，一个待提交配置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1">
                <a:solidFill>
                  <a:srgbClr val="8B1A1A"/>
                </a:solidFill>
                <a:latin typeface="Cormorant Garamond"/>
              </a:rPr>
              <a:t>+2.95</a:t>
            </a:r>
            <a:r>
              <a:rPr sz="1400" b="1" i="0">
                <a:solidFill>
                  <a:srgbClr val="1A1714"/>
                </a:solidFill>
                <a:latin typeface="Consolas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2520"/>
                </a:solidFill>
                <a:latin typeface="Consolas"/>
              </a:rPr>
              <a:t>Mean 5d return · 213 d rolling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1">
                <a:solidFill>
                  <a:srgbClr val="8B1A1A"/>
                </a:solidFill>
                <a:latin typeface="Cormorant Garamond"/>
              </a:rPr>
              <a:t>+12.0</a:t>
            </a:r>
            <a:r>
              <a:rPr sz="1400" b="1" i="0">
                <a:solidFill>
                  <a:srgbClr val="1A1714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2520"/>
                </a:solidFill>
                <a:latin typeface="Consolas"/>
              </a:rPr>
              <a:t>t-stat vs HS300 等权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1">
                <a:solidFill>
                  <a:srgbClr val="8B1A1A"/>
                </a:solidFill>
                <a:latin typeface="Cormorant Garamond"/>
              </a:rPr>
              <a:t>+1.64</a:t>
            </a:r>
            <a:r>
              <a:rPr sz="1400" b="1" i="0">
                <a:solidFill>
                  <a:srgbClr val="1A1714"/>
                </a:solidFill>
                <a:latin typeface="Consolas"/>
              </a:rP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2520"/>
                </a:solidFill>
                <a:latin typeface="Consolas"/>
              </a:rPr>
              <a:t>vs 赛方 baseline · 6 d 重叠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43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1">
                <a:solidFill>
                  <a:srgbClr val="8B1A1A"/>
                </a:solidFill>
                <a:latin typeface="Cormorant Garamond"/>
              </a:rPr>
              <a:t>87</a:t>
            </a:r>
            <a:r>
              <a:rPr sz="1400" b="1" i="0">
                <a:solidFill>
                  <a:srgbClr val="1A1714"/>
                </a:solidFill>
                <a:latin typeface="Consolas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2A2520"/>
                </a:solidFill>
                <a:latin typeface="Consolas"/>
              </a:rPr>
              <a:t>胜率 (port_ret &gt; 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36576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4515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B1A1A"/>
                </a:solidFill>
                <a:latin typeface="Consolas"/>
              </a:rPr>
              <a:t>第一跃迁 · First Leap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714"/>
                </a:solidFill>
                <a:latin typeface="Cormorant Garamond"/>
              </a:rPr>
              <a:t>v1 → 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单 Transformer → 三模型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从局部调参冲分，转为 walk-forward CV + rank-blend 工业化方法论。首次拿到 t = +4.78 的硬证据。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B1A1A"/>
                </a:solidFill>
                <a:latin typeface="Consolas"/>
              </a:rPr>
              <a:t>87 d · +1.01% / 5d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4572000"/>
            <a:ext cx="36576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464515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B1A1A"/>
                </a:solidFill>
                <a:latin typeface="Consolas"/>
              </a:rPr>
              <a:t>第二跃迁 · Second Leap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892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714"/>
                </a:solidFill>
                <a:latin typeface="Cormorant Garamond"/>
              </a:rPr>
              <a:t>M1 → 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三模型 ensemble → LGB-only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5532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放弃 GPU 非确定性，换取跨平台 MD5 一致 + 训练成本降 47×。用省下的预算把窗口扩到 213 天。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6172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B1A1A"/>
                </a:solidFill>
                <a:latin typeface="Consolas"/>
              </a:rPr>
              <a:t>213 d · +2.41% · t = +12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8" y="4572000"/>
            <a:ext cx="36576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8" y="464515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B1A1A"/>
                </a:solidFill>
                <a:latin typeface="Consolas"/>
              </a:rPr>
              <a:t>提交前防守 · W1 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8" y="4892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A1714"/>
                </a:solidFill>
                <a:latin typeface="Cormorant Garamond"/>
              </a:rPr>
              <a:t>M10-3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8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市值硬约束 Top-K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8" y="5532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诊断出近 10 天大盘风格轮动后，新增 mcap-constrained 推理层，强制 Top-5 中 ≥3 只大盘股。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8" y="6172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8B1A1A"/>
                </a:solidFill>
                <a:latin typeface="Consolas"/>
              </a:rPr>
              <a:t>近 30 d · +0.38 pp vs HS300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II.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03 · 赛题与硬约束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赛题与硬约束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每一项约束都决定了我们的方法论选择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1 · 赛题形式化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12064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1810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1810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沪深 300 成分股过去 60 日 OHLCV + 衍生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0712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4655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result.csv: stock_id, weight ≤ 5, Σw ≤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130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8130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(P_open[T+5] − P_open[T+1]) / P_open[T+1]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05656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门槛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160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跑赢官方 StockTransformer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53128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2 · 硬性预算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02352"/>
            <a:ext cx="512064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训练时长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1572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≤ 8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49824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0468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推理时长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5046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≤ 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97296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85216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Docker 镜像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8521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≤ 10 GB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144768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运行时网络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61996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离线 · 无外部数据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92240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4710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复现要求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654710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714"/>
                </a:solidFill>
                <a:latin typeface="Noto Serif SC"/>
              </a:rPr>
              <a:t>两次推理 MD5 一致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839712"/>
            <a:ext cx="512064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IMPLICATIONS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714"/>
                </a:solidFill>
                <a:latin typeface="Noto Serif SC"/>
              </a:rPr>
              <a:t>三项约束如何反向塑造方法论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5661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1">
                <a:solidFill>
                  <a:srgbClr val="8B1A1A"/>
                </a:solidFill>
                <a:latin typeface="Cormorant Garamond"/>
              </a:rPr>
              <a:t>① </a:t>
            </a:r>
            <a:r>
              <a:rPr sz="1200" b="1" i="0">
                <a:solidFill>
                  <a:srgbClr val="1A1714"/>
                </a:solidFill>
                <a:latin typeface="Noto Serif SC"/>
              </a:rPr>
              <a:t>"两次推理 MD5 一致"</a:t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意味着任何 GPU 非确定性算子（Transformer attention、CUDA conv backward）都必须被工程级证伪后才能上主线。这条决定我们最终舍弃 Transformer 单模型路线。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1">
                <a:solidFill>
                  <a:srgbClr val="8B1A1A"/>
                </a:solidFill>
                <a:latin typeface="Cormorant Garamond"/>
              </a:rPr>
              <a:t>② </a:t>
            </a:r>
            <a:r>
              <a:rPr sz="1200" b="1" i="0">
                <a:solidFill>
                  <a:srgbClr val="1A1714"/>
                </a:solidFill>
                <a:latin typeface="Noto Serif SC"/>
              </a:rPr>
              <a:t>"≤ 8 h 训练 + 5 min 推理"</a:t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意味着我们必须在多 seed × 长 CV 与多模型集成之间二选一。我们选择前者——用 LGB 的 8 分钟训练，换取 3 seed × refit 的统计稳健。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394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1">
                <a:solidFill>
                  <a:srgbClr val="8B1A1A"/>
                </a:solidFill>
                <a:latin typeface="Cormorant Garamond"/>
              </a:rPr>
              <a:t>③ </a:t>
            </a:r>
            <a:r>
              <a:rPr sz="1200" b="1" i="0">
                <a:solidFill>
                  <a:srgbClr val="1A1714"/>
                </a:solidFill>
                <a:latin typeface="Noto Serif SC"/>
              </a:rPr>
              <a:t>"跑赢 baseline 才进排名"</a:t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是硬门槛而非软目标。Baseline 实测 6 天均值 −0.88% / 5d，永远固定 5 大金融蓝筹。跑赢门槛与跑赢市场是两件事。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III.  Methodological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04 · 五个里程碑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两次跃迁 · 五个里程碑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每一次切换都由新证据驱动，而非主观偏好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06424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3149600"/>
            <a:ext cx="139700" cy="139700"/>
          </a:xfrm>
          <a:prstGeom prst="ellipse">
            <a:avLst/>
          </a:prstGeom>
          <a:solidFill>
            <a:srgbClr val="F4EDE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M0 · 04/10–13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1A1A"/>
                </a:solidFill>
                <a:latin typeface="Noto Serif SC"/>
              </a:rPr>
              <a:t>本地分审判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0756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v1 单 Transformer 在 4060/5090/Win 5 次推理输出不一致，分差 0.17。本地 0.064 不可作决策依据。</a:t>
            </a:r>
          </a:p>
        </p:txBody>
      </p:sp>
      <p:sp>
        <p:nvSpPr>
          <p:cNvPr id="17" name="Oval 16"/>
          <p:cNvSpPr/>
          <p:nvPr/>
        </p:nvSpPr>
        <p:spPr>
          <a:xfrm>
            <a:off x="2761488" y="3149600"/>
            <a:ext cx="139700" cy="1397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33832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M1 · 04/14–21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6576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1A1A"/>
                </a:solidFill>
                <a:latin typeface="Noto Serif SC"/>
              </a:rPr>
              <a:t>三模型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023360"/>
            <a:ext cx="20756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LGB+DE×0.1 + MASTER×0.9 + Mixer×0.0，walk-forward CV，87 d rolling +1.01%, t=+4.78</a:t>
            </a:r>
          </a:p>
        </p:txBody>
      </p:sp>
      <p:sp>
        <p:nvSpPr>
          <p:cNvPr id="21" name="Oval 20"/>
          <p:cNvSpPr/>
          <p:nvPr/>
        </p:nvSpPr>
        <p:spPr>
          <a:xfrm>
            <a:off x="4974336" y="3149600"/>
            <a:ext cx="139700" cy="139700"/>
          </a:xfrm>
          <a:prstGeom prst="ellipse">
            <a:avLst/>
          </a:prstGeom>
          <a:solidFill>
            <a:srgbClr val="F4EDE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74336" y="33832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M2 · 04/22–23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36576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1A1A"/>
                </a:solidFill>
                <a:latin typeface="Noto Serif SC"/>
              </a:rPr>
              <a:t>LGB-only 主线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336" y="4023360"/>
            <a:ext cx="20756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剥离 MASTER/Mixer 的 GPU 非确定性，保留 M1 全部基础设施。训练 6.3h → 8 min。</a:t>
            </a:r>
          </a:p>
        </p:txBody>
      </p:sp>
      <p:sp>
        <p:nvSpPr>
          <p:cNvPr id="25" name="Oval 24"/>
          <p:cNvSpPr/>
          <p:nvPr/>
        </p:nvSpPr>
        <p:spPr>
          <a:xfrm>
            <a:off x="7187184" y="3149600"/>
            <a:ext cx="139700" cy="139700"/>
          </a:xfrm>
          <a:prstGeom prst="ellipse">
            <a:avLst/>
          </a:prstGeom>
          <a:solidFill>
            <a:srgbClr val="8B1A1A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7184" y="33832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M3-M4 · 04/22–23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36576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1A1A"/>
                </a:solidFill>
                <a:latin typeface="Noto Serif SC"/>
              </a:rPr>
              <a:t>跨平台 + 长 rolling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4" y="4023360"/>
            <a:ext cx="20756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Linux/Windows 4060 各 5 次 MD5 一致；rolling 扩至 213 d，+2.41%, t=+12</a:t>
            </a:r>
          </a:p>
        </p:txBody>
      </p:sp>
      <p:sp>
        <p:nvSpPr>
          <p:cNvPr id="29" name="Oval 28"/>
          <p:cNvSpPr/>
          <p:nvPr/>
        </p:nvSpPr>
        <p:spPr>
          <a:xfrm>
            <a:off x="9400032" y="3149600"/>
            <a:ext cx="139700" cy="139700"/>
          </a:xfrm>
          <a:prstGeom prst="ellipse">
            <a:avLst/>
          </a:prstGeom>
          <a:solidFill>
            <a:srgbClr val="F4EDE0"/>
          </a:solidFill>
          <a:ln w="1905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3832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M5 · 04/24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6576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B1A1A"/>
                </a:solidFill>
                <a:latin typeface="Noto Serif SC"/>
              </a:rPr>
              <a:t>W1 防守补丁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4023360"/>
            <a:ext cx="207568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A2520"/>
                </a:solidFill>
                <a:latin typeface="Noto Serif SC"/>
              </a:rPr>
              <a:t>诊断近 10 d 大盘轮动 → mcap-constrained Top-K · M10-3 全维度最优 · 提交配置锁定。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760720"/>
            <a:ext cx="11091672" cy="0"/>
          </a:xfrm>
          <a:prstGeom prst="line">
            <a:avLst/>
          </a:prstGeom>
          <a:ln w="6350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FIRST LEAP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A1714"/>
                </a:solidFill>
                <a:latin typeface="Cormorant Garamond"/>
              </a:rPr>
              <a:t>v1 → M1 · From Tuning to Methodology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SECOND LEAP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080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A1714"/>
                </a:solidFill>
                <a:latin typeface="Cormorant Garamond"/>
              </a:rPr>
              <a:t>M1 → M5 · From Ceiling to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IV.  First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05 · v1 → M1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FIRST LEAP · v1 → 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从经验调参到工业化方法论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首次拿到 t = +4.78 的统计显著证据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3 · 方法论对照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4864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181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1181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v1 · StockTransformer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1810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M1 · Three-model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429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158+39 赛方原版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29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Alpha158+360+估值+市场63维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21608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581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7581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zscore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581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rank-gauss + 中性化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50792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873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087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087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3 段 walk-forward + 5d embargo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79976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165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4165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单 StockTransformer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165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LGB+DE + MASTER + Mixer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09160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457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7457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30d 本地 0.064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7457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87d rolling +1.01%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38344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D4F"/>
                </a:solidFill>
                <a:latin typeface="Cormorant Garamond"/>
              </a:rPr>
              <a:t>t-stat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074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074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t = +4.78, p &lt; 0.0001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67528"/>
            <a:ext cx="5486400" cy="508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27432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0175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1714"/>
                </a:solidFill>
                <a:latin typeface="Noto Serif SC"/>
              </a:rPr>
              <a:t>M1 成功，但暴露了致命弱点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61188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holdout grid search 最优权重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300" b="1" i="0">
                <a:solidFill>
                  <a:srgbClr val="8B1A1A"/>
                </a:solidFill>
                <a:latin typeface="Consolas"/>
              </a:rPr>
              <a:t>{lgb: 0.1, master: 0.9, mixer: 0.0}</a:t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8B1A1A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8B1A1A"/>
                </a:solidFill>
                <a:latin typeface="Consolas"/>
              </a:rPr>
              <a:t/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>所谓的 "三模型 ensemble" 实质是 </a:t>
            </a:r>
            <a:r>
              <a:rPr sz="1200" b="1" i="0">
                <a:solidFill>
                  <a:srgbClr val="8B1A1A"/>
                </a:solidFill>
                <a:latin typeface="Noto Serif SC"/>
              </a:rPr>
              <a:t>MASTER 单模型</a:t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> 在做主导。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单点失败风险极高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MASTER attention 跨平台 CUDA 非确定性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训练 6.3 h 无加新特征余地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200" b="1" i="1">
                <a:solidFill>
                  <a:srgbClr val="8B1A1A"/>
                </a:solidFill>
                <a:latin typeface="Noto Serif SC"/>
              </a:rPr>
              <a:t>→ 为第二次跃迁埋下伏笔。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V.  Second Leap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06 · M1 → M5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SECOND LEAP · M1 →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用理论上限换跨平台复现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主动放弃当时最高分的方案，一个艰难但理性的决策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① OBSERVATIONS · 发现事实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>M1 的 "集成" 实质是 MASTER 单模型，单点失败风险极高。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>MASTER attention 在 4060 / 5090 / Windows 上 5 次推理输出不一致，直接违反赛规 "两次 MD5 一致" 硬约束。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>训练预算 6.3 h 已满，无法加新模型 / 新特征。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34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② DECISION · 方法论权衡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5468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714"/>
                </a:solidFill>
                <a:latin typeface="Noto Serif SC"/>
              </a:rPr>
              <a:t>保留 M1 全部基础设施：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714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特征工程（Alpha158+估值+中性化）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walk-forward CV + embargo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· tradability filter + tx cost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50" b="0" i="0">
                <a:solidFill>
                  <a:srgbClr val="1A1714"/>
                </a:solidFill>
                <a:latin typeface="Noto Serif SC"/>
              </a:rPr>
              <a:t>只换模型层：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714"/>
                </a:solidFill>
                <a:latin typeface="Noto Serif SC"/>
              </a:rPr>
              <a:t/>
            </a:r>
            <a:r>
              <a:rPr sz="1150" b="1" i="0">
                <a:solidFill>
                  <a:srgbClr val="8B1A1A"/>
                </a:solidFill>
                <a:latin typeface="Noto Serif SC"/>
              </a:rPr>
              <a:t>三模型 ensemble → LightGBM+DE × 3 seeds 平均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834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③ OUTCOME · 结果验证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B1A1A"/>
                </a:solidFill>
                <a:latin typeface="Consolas"/>
              </a:rPr>
              <a:t>6.3 h  →  8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5643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训练时长 · 47× 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8221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B1A1A"/>
                </a:solidFill>
                <a:latin typeface="Consolas"/>
              </a:rPr>
              <a:t>MD5 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7822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Linux 5/5 · Windows 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4439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B1A1A"/>
                </a:solidFill>
                <a:latin typeface="Consolas"/>
              </a:rPr>
              <a:t>87 d  →  213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000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Rolling 窗口 · 2.5× 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0657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B1A1A"/>
                </a:solidFill>
                <a:latin typeface="Consolas"/>
              </a:rPr>
              <a:t>+1.01 %  →  +2.41 %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32180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5d 收益 · 显著提升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6875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B1A1A"/>
                </a:solidFill>
                <a:latin typeface="Consolas"/>
              </a:rPr>
              <a:t>t = +4.78  →  t = +12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943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统计显著性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126480"/>
            <a:ext cx="11091672" cy="0"/>
          </a:xfrm>
          <a:prstGeom prst="line">
            <a:avLst/>
          </a:prstGeom>
          <a:ln w="1270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714"/>
                </a:solidFill>
                <a:latin typeface="Noto Serif SC"/>
              </a:rPr>
              <a:t>我们交出的不是「理论上限的一点」，而是「伪集成的不稳健性」——这是 net positive 的决策。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VI. 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07 · 213 天长 rolling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EMPIRICAL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213 天滚动回测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核心结论必须基于长期、严格的样本外测试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Noto Serif SC"/>
              </a:rPr>
              <a:t>评估窗口 2025-06-03 ~ 2026-04-16 · 213 交易日 · 每日 T+1 开盘买 T+5 开盘卖 · 训练数据严格早于回测窗口，无任何泄漏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4 · 分窗口收益对比 · 均值 5d return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1106424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0325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40325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LGB-only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40325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HS300 等权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40325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Δ vs HS300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403250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t-stat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403250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胜率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403250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注解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43399"/>
            <a:ext cx="11064240" cy="292608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38911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全量 213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43891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+2.41%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3891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+0.37%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43891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+2.04%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438911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+12.05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438911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438911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核心结论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36007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7183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2025 H2 (146 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47183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Consolas"/>
              </a:rPr>
              <a:t>+2.97%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47183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+0.58%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471830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+2.39%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2" y="471830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+11.11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471830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91%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1552" y="471830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最强表现期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65191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04748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近 90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3472" y="504748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Consolas"/>
              </a:rPr>
              <a:t>+1.36%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504748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+0.13%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504748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+1.23%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50474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+6.38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50474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1552" y="50474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仍显著领先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294375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376671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近 60 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33472" y="537667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Consolas"/>
              </a:rPr>
              <a:t>+1.11%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537667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−0.16%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25312" y="537667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+1.27%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2" y="537667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+4.61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42832" y="5376671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67%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5376671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稳健正超额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623559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5705855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近 30 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33472" y="570585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Consolas"/>
              </a:rPr>
              <a:t>+0.30%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570585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−0.19%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25312" y="570585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+0.49%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2" y="570585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+1.43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2832" y="570585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53%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31552" y="570585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边际领先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952743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" y="5989319"/>
            <a:ext cx="11064240" cy="292608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" y="60350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A1714"/>
                </a:solidFill>
                <a:latin typeface="Noto Serif SC"/>
              </a:rPr>
              <a:t>近 10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33472" y="60350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−0.06%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392" y="60350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A2520"/>
                </a:solidFill>
                <a:latin typeface="Consolas"/>
              </a:rPr>
              <a:t>+1.37%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25312" y="603503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−1.42%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71232" y="60350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B1A1A"/>
                </a:solidFill>
                <a:latin typeface="Consolas"/>
              </a:rPr>
              <a:t>−3.87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42832" y="60350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714"/>
                </a:solidFill>
                <a:latin typeface="Consolas"/>
              </a:rPr>
              <a:t>40%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31552" y="60350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5D4F"/>
                </a:solidFill>
                <a:latin typeface="Noto Serif SC"/>
              </a:rPr>
              <a:t>风格失配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6281927"/>
            <a:ext cx="11064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8B1A1A"/>
                </a:solidFill>
                <a:latin typeface="Noto Serif SC"/>
              </a:rPr>
              <a:t>→ 长窗口稳定显著领先；唯近 10 天明显失效——这是 W1 防守补丁要解决的问题。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VII. 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08 · 近 10 天失效归因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REGIME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近 10 天结构性失效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不把异常扫进地毯，而是做风格归因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FACTS · 事实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HS300 近 10 天累计 </a:t>
            </a:r>
            <a:r>
              <a:rPr sz="1200" b="1" i="0">
                <a:solidFill>
                  <a:srgbClr val="1A1714"/>
                </a:solidFill>
                <a:latin typeface="Consolas"/>
              </a:rPr>
              <a:t>+1.37 %</a:t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但内部分化极大：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  · 大盘股 (log_mktcap top 1/3)  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+1.8 %</a:t>
            </a:r>
          </a:p>
          <a:p>
            <a:pPr algn="l">
              <a:lnSpc>
                <a:spcPct val="155000"/>
              </a:lnSpc>
            </a:pPr>
            <a:r>
              <a:rPr sz="1150" b="1" i="0">
                <a:solidFill>
                  <a:srgbClr val="8B1A1A"/>
                </a:solidFill>
                <a:latin typeface="Consolas"/>
              </a:rPr>
              <a:t/>
            </a:r>
            <a:r>
              <a:rPr sz="1100" b="0" i="0">
                <a:solidFill>
                  <a:srgbClr val="2A2520"/>
                </a:solidFill>
                <a:latin typeface="Noto Serif SC"/>
              </a:rPr>
              <a:t>  · 小盘股 (log_mktcap bot 1/3) 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−0.6 %</a:t>
            </a:r>
          </a:p>
          <a:p>
            <a:pPr algn="l">
              <a:lnSpc>
                <a:spcPct val="155000"/>
              </a:lnSpc>
            </a:pPr>
            <a:r>
              <a:rPr sz="1150" b="1" i="0">
                <a:solidFill>
                  <a:srgbClr val="8B1A1A"/>
                </a:solidFill>
                <a:latin typeface="Consolas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150" b="1" i="0">
                <a:solidFill>
                  <a:srgbClr val="8B1A1A"/>
                </a:solidFill>
                <a:latin typeface="Consolas"/>
              </a:rPr>
              <a:t/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>我们 LGB 选出的 Top-5 在这 10 天 </a:t>
            </a:r>
            <a:r>
              <a:rPr sz="1200" b="1" i="0">
                <a:solidFill>
                  <a:srgbClr val="8B1A1A"/>
                </a:solidFill>
                <a:latin typeface="Consolas"/>
              </a:rPr>
              <a:t>4/5 </a:t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>落在小盘成长。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CAUSAL CHAIN · 因果链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LGB 在 2025 H2 的强表现本质是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200" b="1" i="0">
                <a:solidFill>
                  <a:srgbClr val="1A1714"/>
                </a:solidFill>
                <a:latin typeface="Noto Serif SC"/>
              </a:rPr>
              <a:t>抓住了「小盘成长」这条主线</a:t>
            </a:r>
          </a:p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/>
            </a:r>
            <a:r>
              <a:rPr sz="1200" b="0" i="0">
                <a:solidFill>
                  <a:srgbClr val="2A2520"/>
                </a:solidFill>
                <a:latin typeface="Noto Serif SC"/>
              </a:rPr>
              <a:t>4 月出现大盘蓝筹轮动时，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模型选股结构没有自适应。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300" b="1" i="1">
                <a:solidFill>
                  <a:srgbClr val="8B1A1A"/>
                </a:solidFill>
                <a:latin typeface="Cormorant Garamond"/>
              </a:rPr>
              <a:t>→ </a:t>
            </a:r>
            <a:r>
              <a:rPr sz="1200" b="1" i="0">
                <a:solidFill>
                  <a:srgbClr val="8B1A1A"/>
                </a:solidFill>
                <a:latin typeface="Noto Serif SC"/>
              </a:rPr>
              <a:t>不是模型失效，而是模型偏好与近期市场风格出现结构性错配。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394960"/>
            <a:ext cx="11091672" cy="0"/>
          </a:xfrm>
          <a:prstGeom prst="line">
            <a:avLst/>
          </a:prstGeom>
          <a:ln w="6350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COUNTER-EXPERIMENT · 证伪「重训解决」路线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A2520"/>
                </a:solidFill>
                <a:latin typeface="Noto Serif SC"/>
              </a:rPr>
              <a:t>M1 实验：把 beta60 + log_mktcap 加进特征 → 所有窗口都变差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(−0.23 ~ −0.38 pp)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>这两个因子已在中性化里被用过一次，再当输入会造成信号重复冲突。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300" b="1" i="1">
                <a:solidFill>
                  <a:srgbClr val="8B1A1A"/>
                </a:solidFill>
                <a:latin typeface="Noto Serif SC"/>
              </a:rPr>
              <a:t>结论：根因是推理时的选股结构偏离——解决方案应在推理层。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VIII.  W1 Defensive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09 · M10 三档 AB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09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W1 PATCH · mcap_constrained_topk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市值硬约束 Top-K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推理层 monkey-patch · 零侵入 · 零重训 · AB 证伪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303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 i="1">
                <a:solidFill>
                  <a:srgbClr val="8B1A1A"/>
                </a:solidFill>
                <a:latin typeface="Cormorant Garamond"/>
              </a:rPr>
              <a:t>①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按 deterministic_top_k 取 </a:t>
            </a:r>
            <a:r>
              <a:rPr sz="1150" b="1" i="0">
                <a:solidFill>
                  <a:srgbClr val="1A1714"/>
                </a:solidFill>
                <a:latin typeface="Consolas"/>
              </a:rPr>
              <a:t>Top-10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候选</a:t>
            </a:r>
          </a:p>
          <a:p>
            <a:pPr algn="l">
              <a:lnSpc>
                <a:spcPct val="17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400" b="1" i="1">
                <a:solidFill>
                  <a:srgbClr val="8B1A1A"/>
                </a:solidFill>
                <a:latin typeface="Cormorant Garamond"/>
              </a:rPr>
              <a:t>②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计算当日 HS300 log_mktcap 中位数为大盘门槛</a:t>
            </a:r>
          </a:p>
          <a:p>
            <a:pPr algn="l">
              <a:lnSpc>
                <a:spcPct val="17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400" b="1" i="1">
                <a:solidFill>
                  <a:srgbClr val="8B1A1A"/>
                </a:solidFill>
                <a:latin typeface="Cormorant Garamond"/>
              </a:rPr>
              <a:t>③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贪心从 Top-10 中挑 5 只，强制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大盘 ≥ min_large_cap</a:t>
            </a:r>
          </a:p>
          <a:p>
            <a:pPr algn="l">
              <a:lnSpc>
                <a:spcPct val="170000"/>
              </a:lnSpc>
            </a:pPr>
            <a:r>
              <a:rPr sz="1150" b="1" i="0">
                <a:solidFill>
                  <a:srgbClr val="8B1A1A"/>
                </a:solidFill>
                <a:latin typeface="Consolas"/>
              </a:rPr>
              <a:t/>
            </a:r>
            <a:r>
              <a:rPr sz="1400" b="1" i="1">
                <a:solidFill>
                  <a:srgbClr val="8B1A1A"/>
                </a:solidFill>
                <a:latin typeface="Cormorant Garamond"/>
              </a:rPr>
              <a:t>④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若 Top-10 中大盘不足，降级回原 Top-5（保护）</a:t>
            </a:r>
          </a:p>
          <a:p>
            <a:pPr algn="l">
              <a:lnSpc>
                <a:spcPct val="17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00" b="0" i="1">
                <a:solidFill>
                  <a:srgbClr val="6B5D4F"/>
                </a:solidFill>
                <a:latin typeface="Noto Serif SC"/>
              </a:rPr>
              <a:t>→ 5 项单元测试覆盖边界情形，pytest 全绿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5 · 三档 AB · 213 天 rolling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4864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1638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档位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1638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213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1638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近 30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1638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近 10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31638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Δ30 HS300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38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5387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+2.910%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5387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+0.168%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5387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+0.140%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35387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+0.301%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94760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89534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M10-2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8953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+2.920%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8953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+0.030%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8953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+0.210%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38953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+0.164%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151376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187952"/>
            <a:ext cx="5486400" cy="320040"/>
          </a:xfrm>
          <a:prstGeom prst="rect">
            <a:avLst/>
          </a:prstGeom>
          <a:solidFill>
            <a:srgbClr val="E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251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M10-3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4251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+2.953%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251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+0.248%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251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+0.252%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2519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+0.381%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507992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8B1A1A"/>
                </a:solidFill>
                <a:latin typeface="Noto Serif SC"/>
              </a:rPr>
              <a:t>→ M10-3 在所有维度都最优或并列最优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3492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>· 213 天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+0.04 pp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（不受损反略升）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· 近 30 天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+0.08 pp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改善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· 近 10 天 </a:t>
            </a:r>
            <a:r>
              <a:rPr sz="1150" b="1" i="0">
                <a:solidFill>
                  <a:srgbClr val="8B1A1A"/>
                </a:solidFill>
                <a:latin typeface="Consolas"/>
              </a:rPr>
              <a:t>+0.11 pp </a:t>
            </a:r>
            <a:r>
              <a:rPr sz="1150" b="0" i="0">
                <a:solidFill>
                  <a:srgbClr val="2A2520"/>
                </a:solidFill>
                <a:latin typeface="Noto Serif SC"/>
              </a:rPr>
              <a:t>减损</a:t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150" b="0" i="0">
                <a:solidFill>
                  <a:srgbClr val="2A2520"/>
                </a:solidFill>
                <a:latin typeface="Noto Serif SC"/>
              </a:rPr>
              <a:t/>
            </a:r>
            <a:r>
              <a:rPr sz="1200" b="1" i="0">
                <a:solidFill>
                  <a:srgbClr val="1A1714"/>
                </a:solidFill>
                <a:latin typeface="Noto Serif SC"/>
              </a:rPr>
              <a:t>Dominated solution · 提交配置锁定 M10-3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IX.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10 · 跨平台 &amp; 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跨平台复现与交付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赛规硬门槛：两次推理 MD5 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6 · 跨平台验证矩阵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548640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181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1181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1181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MD5 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1181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RTX 4060 8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474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474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5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474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21608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RTX 4060 8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8039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8039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5 /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50792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33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RTX 5090 32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133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Linux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133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1A1A"/>
                </a:solidFill>
                <a:latin typeface="Consolas"/>
              </a:rPr>
              <a:t>5 /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4133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379976"/>
            <a:ext cx="548640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2A2520"/>
                </a:solidFill>
                <a:latin typeface="Noto Serif SC"/>
              </a:rPr>
              <a:t>关键：deterministic_top_k · score quantize 1e-4 + stock_id lex tie-break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5D4F"/>
                </a:solidFill>
                <a:latin typeface="Cormorant Garamond"/>
              </a:rPr>
              <a:t>Tab. 7 · 工程预算实测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063240"/>
            <a:ext cx="5349240" cy="1587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1181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118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预算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118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实测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31181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714"/>
                </a:solidFill>
                <a:latin typeface="Consolas"/>
              </a:rPr>
              <a:t>余量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474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训练时长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8 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3474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8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3474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60×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721608"/>
            <a:ext cx="5349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80390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推理时长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803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3803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&lt; 3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40%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050792"/>
            <a:ext cx="5349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133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Docker 镜像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133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Consolas"/>
              </a:rPr>
              <a:t>10 GB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133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~ 4 GB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61320" y="4133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60%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379976"/>
            <a:ext cx="5349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4462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单元测试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4462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714"/>
                </a:solidFill>
                <a:latin typeface="Noto Serif SC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4462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18 / 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44622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B1A1A"/>
                </a:solidFill>
                <a:latin typeface="Consolas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709160"/>
            <a:ext cx="5349240" cy="3810"/>
          </a:xfrm>
          <a:prstGeom prst="rect">
            <a:avLst/>
          </a:prstGeom>
          <a:solidFill>
            <a:srgbClr val="C8B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548640" y="5760720"/>
            <a:ext cx="11091672" cy="0"/>
          </a:xfrm>
          <a:prstGeom prst="line">
            <a:avLst/>
          </a:prstGeom>
          <a:ln w="6350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48640" y="5897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TESTS  </a:t>
            </a:r>
            <a:r>
              <a:rPr sz="1100" b="1" i="0">
                <a:solidFill>
                  <a:srgbClr val="1A1714"/>
                </a:solidFill>
                <a:latin typeface="Consolas"/>
              </a:rPr>
              <a:t>18 项 pytest </a:t>
            </a:r>
            <a:r>
              <a:rPr sz="1050" b="0" i="0">
                <a:solidFill>
                  <a:srgbClr val="2A2520"/>
                </a:solidFill>
                <a:latin typeface="Noto Serif SC"/>
              </a:rPr>
              <a:t>覆盖 deterministic_top_k 跨平台一致性、blender 数值稳定性、mcap_constrained_topk 5 类边界、regime 2 场景、tradability 涨跌停</a:t>
            </a:r>
            <a:r>
              <a:rPr sz="900" b="1" i="0">
                <a:solidFill>
                  <a:srgbClr val="6B5D4F"/>
                </a:solidFill>
                <a:latin typeface="Consola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00" b="1" i="0">
                <a:solidFill>
                  <a:srgbClr val="6B5D4F"/>
                </a:solidFill>
                <a:latin typeface="Consolas"/>
              </a:rPr>
              <a:t>COMMITS  </a:t>
            </a:r>
            <a:r>
              <a:rPr sz="1100" b="1" i="0">
                <a:solidFill>
                  <a:srgbClr val="1A1714"/>
                </a:solidFill>
                <a:latin typeface="Consolas"/>
              </a:rPr>
              <a:t>22 commits </a:t>
            </a:r>
            <a:r>
              <a:rPr sz="1050" b="0" i="0">
                <a:solidFill>
                  <a:srgbClr val="2A2520"/>
                </a:solidFill>
                <a:latin typeface="Noto Serif SC"/>
              </a:rPr>
              <a:t>in feat/ensemble-v1 · TDD workflow · spec → plan → test → impl → commit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A2520"/>
                </a:solidFill>
                <a:latin typeface="Cormorant Garamond"/>
              </a:rPr>
              <a:t>§ X.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2A2520"/>
                </a:solidFill>
                <a:latin typeface="Consolas"/>
              </a:rPr>
              <a:t>11 · 结语与展望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"/>
            <a:ext cx="11091672" cy="0"/>
          </a:xfrm>
          <a:prstGeom prst="line">
            <a:avLst/>
          </a:prstGeom>
          <a:ln w="9525">
            <a:solidFill>
              <a:srgbClr val="1A17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5D4F"/>
                </a:solidFill>
                <a:latin typeface="Consolas"/>
              </a:rPr>
              <a:t>BDC2026 · FEAT/ENSEMBLE-V1 · 2026-04-24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8B1A1A"/>
                </a:solidFill>
                <a:latin typeface="Consolas"/>
              </a:rP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CONCLUSION &amp;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A1714"/>
                </a:solidFill>
                <a:latin typeface="Cormorant Garamond"/>
              </a:rPr>
              <a:t>三句话结论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A2520"/>
                </a:solidFill>
                <a:latin typeface="Noto Serif SC"/>
              </a:rPr>
              <a:t>每一次切换都由新证据驱动，而非主观偏好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640080" cy="25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8B1A1A"/>
                </a:solidFill>
                <a:latin typeface="Cormorant Garamond"/>
              </a:rPr>
              <a:t>I.  </a:t>
            </a:r>
            <a:r>
              <a:rPr sz="2200" b="1" i="0">
                <a:solidFill>
                  <a:srgbClr val="1A1714"/>
                </a:solidFill>
                <a:latin typeface="Noto Serif SC"/>
              </a:rPr>
              <a:t>赛规门槛已稳定通过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A2520"/>
                </a:solidFill>
                <a:latin typeface="Noto Serif SC"/>
              </a:rPr>
              <a:t>M10-3 vs 赛方 baseline 6 天 +1.64 pp · vs HS300 等权 213 天 t = +12 · vs 5d 动量 Top-K t = +6.5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8B1A1A"/>
                </a:solidFill>
                <a:latin typeface="Cormorant Garamond"/>
              </a:rPr>
              <a:t>II.  </a:t>
            </a:r>
            <a:r>
              <a:rPr sz="2200" b="1" i="0">
                <a:solidFill>
                  <a:srgbClr val="1A1714"/>
                </a:solidFill>
                <a:latin typeface="Noto Serif SC"/>
              </a:rPr>
              <a:t>跨平台复现性已工程化保证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A2520"/>
                </a:solidFill>
                <a:latin typeface="Noto Serif SC"/>
              </a:rPr>
              <a:t>Linux / Windows 4060 各 5 次 MD5 一致 · deterministic_top_k + LightGBM deterministic=True · 赛规复现要求满足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1">
                <a:solidFill>
                  <a:srgbClr val="8B1A1A"/>
                </a:solidFill>
                <a:latin typeface="Cormorant Garamond"/>
              </a:rPr>
              <a:t>III.  </a:t>
            </a:r>
            <a:r>
              <a:rPr sz="2200" b="1" i="0">
                <a:solidFill>
                  <a:srgbClr val="1A1714"/>
                </a:solidFill>
                <a:latin typeface="Noto Serif SC"/>
              </a:rPr>
              <a:t>方法论本身比单一数字更重要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A2520"/>
                </a:solidFill>
                <a:latin typeface="Noto Serif SC"/>
              </a:rPr>
              <a:t>14 天 · 两次跃迁 · 从经验调参到工业化方法论 · 从理论上限到 deterministic 复现性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349240"/>
            <a:ext cx="11091672" cy="0"/>
          </a:xfrm>
          <a:prstGeom prst="line">
            <a:avLst/>
          </a:prstGeom>
          <a:ln w="10160">
            <a:solidFill>
              <a:srgbClr val="8B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1A1A"/>
                </a:solidFill>
                <a:latin typeface="Consolas"/>
              </a:rPr>
              <a:t>W2-W3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>板块均值特征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99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对标 2024 一等奖 · 直接打 regime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806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>SHAP 可解释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6099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答辩刚需 · 对标行业标准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806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>市场 regime 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099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指数动量 + 北向 · style-aware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806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714"/>
                </a:solidFill>
                <a:latin typeface="Noto Serif SC"/>
              </a:rPr>
              <a:t>Bootstrap 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0990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520"/>
                </a:solidFill>
                <a:latin typeface="Noto Serif SC"/>
              </a:rPr>
              <a:t>10k 重采样已实现 · 8 seeds ensemble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