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STAGE REPORT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6576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LGB-only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主线收敛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与赛方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Baseline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THU-BDC2026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E4D8C"/>
                </a:solidFill>
                <a:latin typeface="Georgia"/>
                <a:ea typeface="Noto Serif CJK SC"/>
                <a:cs typeface="Georgia"/>
              </a:rPr>
              <a:t>清华大学大数据竞赛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031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Hushen-300 Weekly Portfolio 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2606040"/>
            <a:ext cx="3931920" cy="0"/>
          </a:xfrm>
          <a:prstGeom prst="line">
            <a:avLst/>
          </a:prstGeom>
          <a:ln w="1905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54880" y="2926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+1.446%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20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LGB · 82-day rolling mean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84.15%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520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Daily win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023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t = +7.24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17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Significance vs 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4023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9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6177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5090 training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5120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4 /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715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Linux 4060 cross-machine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1206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5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71500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Windows 4060 cross-machine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2026 · 04 · 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D9E2EC"/>
                </a:solidFill>
                <a:latin typeface="Consolas"/>
                <a:ea typeface="Noto Sans CJK SC"/>
                <a:cs typeface="Consolas"/>
              </a:rPr>
              <a:t>branch  feat/ensemble-v1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D9E2EC"/>
                </a:solidFill>
                <a:latin typeface="Georgia"/>
                <a:ea typeface="Noto Serif CJK SC"/>
                <a:cs typeface="Georgia"/>
              </a:rPr>
              <a:t>5090 + 4060 (Linux / Windows)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一句话结论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Three independent protocols, same conclusion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在赛方评分脚本、82 天独立 rolling backtest、跨窗口</a:t>
            </a:r>
          </a:p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score_self 三种口径下，均以显著 t-stat 跑赢赛方 Transformer</a:t>
            </a:r>
          </a:p>
          <a:p>
            <a:pPr algn="l">
              <a:lnSpc>
                <a:spcPct val="150000"/>
              </a:lnSpc>
            </a:pPr>
            <a:r>
              <a:rPr sz="2200" b="0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baseline。训练 6.3 h → 9 min；镜像 4 GB → 1.5 GB。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354573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622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82-day rolling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29970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+1.446%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Baseline  −0.686%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8458" y="5833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+ 213 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2978" y="4297680"/>
            <a:ext cx="354573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44622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7298" y="48006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score_self  03-03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298" y="5166360"/>
            <a:ext cx="29970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+3.485%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298" y="57150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Baseline  −0.944%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2796" y="5833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+ 443 bp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7316" y="4297680"/>
            <a:ext cx="354573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71636" y="4462272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1636" y="48006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score_self  03-06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1636" y="5166360"/>
            <a:ext cx="299709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2545"/>
                </a:solidFill>
                <a:latin typeface="Consolas"/>
                <a:ea typeface="Noto Sans CJK SC"/>
                <a:cs typeface="Consolas"/>
              </a:rPr>
              <a:t>+1.761%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1636" y="5715000"/>
            <a:ext cx="29970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Baseline  +1.325%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7135" y="58338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+ 44 bp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方案演进 · Apr 20 → Apr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From three-model ensemble to LGB-only mainline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013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031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赛方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828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StockTransformer · 60d × 197 feat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1488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−0.69%   win 31%   t = −4.34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78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20-22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880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三模型集成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LGB + MASTER + StockMixer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9260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+1.00%   win 76%   train 6.3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5584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ICIR 稳健化尝试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83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KL-shrink + bootstrap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70332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训练 5h+ 未完成 → 触发 Path 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33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23 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34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Path B 发现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160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仅 LGB + DoubleEnsemble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48056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+1.446%   win 84%   train 9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8920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91032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23 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212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MASTER 跨平台非确定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9377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Win / Linux diff = 0.17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25780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ICIR 权重反向 → 违反赛规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68756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Apr 23-24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9893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LGB-only 主线化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715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deterministic_top_k · 三平台真机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60350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跨机 Top-5 ≥ 4/5   镜像 ~1.5 GB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CORE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核心性能对比 · 82-day rolling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LGB-only vs StockTransformer vs HS300 equal-weight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LGB-only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828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HS300 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2304288"/>
            <a:ext cx="1109441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2423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Mean 5d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23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+1.446%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231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92828"/>
                </a:solidFill>
                <a:latin typeface="Consolas"/>
                <a:ea typeface="Noto Sans CJK SC"/>
                <a:cs typeface="Consolas"/>
              </a:rPr>
              <a:t>−0.686%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4231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+0.110%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5351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Median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+0.944%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92828"/>
                </a:solidFill>
                <a:latin typeface="Consolas"/>
                <a:ea typeface="Noto Sans CJK SC"/>
                <a:cs typeface="Consolas"/>
              </a:rPr>
              <a:t>−0.783%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0175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54787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Std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1.836%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1.360%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6118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14223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Win rate (&gt;0)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84.15%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062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31.08%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2062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60.92%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4800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t-stat vs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800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+7.245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8006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B92828"/>
                </a:solidFill>
                <a:latin typeface="Consolas"/>
                <a:ea typeface="Noto Sans CJK SC"/>
                <a:cs typeface="Consolas"/>
              </a:rPr>
              <a:t>−4.335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8006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33095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N (days)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3949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74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3949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82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925312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6126480"/>
            <a:ext cx="11094415" cy="822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6263640"/>
            <a:ext cx="104543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t-STAT DELTA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6537960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LGB +7.24 vs Baseline −4.34 — 差距 11.6 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SCORE_SELF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赛方评分脚本单窗口验证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score = Σ weight × (open_T+5 − open_T+1) / open_T+1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20240"/>
            <a:ext cx="5318607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5318607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48256"/>
            <a:ext cx="4678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T = 2026-03-03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hold  03-04 → 03-10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7180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LGB-ONLY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46785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+3.485%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.0" y="4114800"/>
            <a:ext cx="4678527.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420624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46785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B92828"/>
                </a:solidFill>
                <a:latin typeface="Consolas"/>
                <a:ea typeface="Noto Sans CJK SC"/>
                <a:cs typeface="Consolas"/>
              </a:rPr>
              <a:t>−0.944%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.0" y="5303520"/>
            <a:ext cx="4678527.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5413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60"/>
            <a:ext cx="4175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+ 443 bp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852160"/>
            <a:ext cx="4678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03-04~03-10 市场偏弱，</a:t>
            </a:r>
          </a:p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主动选股贡献显著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1920240"/>
            <a:ext cx="5318607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4447" y="1920240"/>
            <a:ext cx="5318607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4487" y="2048256"/>
            <a:ext cx="4678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T = 2026-03-06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242316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hold  03-09 → 03-13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297180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LGB-ONLY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4487" y="3291840"/>
            <a:ext cx="46785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+1.761%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44487.5" y="4114800"/>
            <a:ext cx="4678527.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44487" y="420624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4487" y="4526280"/>
            <a:ext cx="467852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+1.325%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44487.5" y="5303520"/>
            <a:ext cx="4678527.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44487" y="5413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7407" y="5394960"/>
            <a:ext cx="41756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+ 44 bp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4487" y="5852160"/>
            <a:ext cx="467852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03-09~03-13 市场普涨，</a:t>
            </a:r>
          </a:p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Top-5 重叠 4/5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TECHNICAL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关键技术决策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Why drop MASTER, and how cross-machine consistency works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53186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01  为何移除 MASTER / Mixer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286000"/>
            <a:ext cx="5318607.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5603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0320"/>
            <a:ext cx="44956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LGB-only 比三模型集成高 + 45 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速度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7560"/>
            <a:ext cx="44956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训练 6.3 h → 9 min (×42 加速)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44956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MASTER attention backward 非确定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跨平台 score 差 0.17，违反赛规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92040"/>
            <a:ext cx="44956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去 torch，镜像 ~4 GB → ~1.5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1783080"/>
            <a:ext cx="53186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02  Deterministic Top-K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24447.5" y="2286000"/>
            <a:ext cx="5318607.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24447" y="2560320"/>
            <a:ext cx="531860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LGB 跨平台 score 有 1e-3 级噪声 (OpenMP / BLAS)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4447" y="3246120"/>
            <a:ext cx="5318607" cy="1920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4487" y="338328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# deterministic_top_k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4487" y="3657599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q = round(s / 1e-4) * 1e-4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487" y="393192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sort by (q DESC,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206239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         stock_id ASC,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4487" y="4480559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         mergesort)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4487" y="4754880"/>
            <a:ext cx="46785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take head(5)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447" y="5349240"/>
            <a:ext cx="531860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同桶内 stock_id 字典序打破同分</a:t>
            </a:r>
          </a:p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→ Top-5 跨机稳定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ENGINEERING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赛题硬约束余量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All dimensions well within limits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Dimension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28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Old 3-model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2880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LGB-only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82880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Headroom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286000"/>
            <a:ext cx="1109441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24231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Train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231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≤ 8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6.3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4231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9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4231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98%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1752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30632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0632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≤ 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063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~1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06324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~1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063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65760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37033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Docker image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37033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≤ 10 GB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70332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~4 GB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70332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~1.5 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7033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85%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29768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3434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4060 GPU mem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43434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8 GB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34340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34340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0 MiB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4343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93776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49834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Reproducibility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9834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bit-level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49834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98348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Linux 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983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57784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56235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Cross-plat diff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6235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≤ 1e-4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0" y="562356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0.17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5623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1e-3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5623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508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CROSS-MACHINE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三平台真机 T1–T8 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5090 · Linux 4060 · Windows 4060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354573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3545738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002535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5090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86583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3D8BFF"/>
                </a:solidFill>
                <a:latin typeface="Georgia"/>
                <a:ea typeface="Noto Serif CJK SC"/>
                <a:cs typeface="Georgia"/>
              </a:rPr>
              <a:t>Ubuntu · anchor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2607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T1 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926079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9 min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.0" y="3383279"/>
            <a:ext cx="2905658.333333333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68680" y="3502151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T2 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502151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~1 min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.0" y="3959351"/>
            <a:ext cx="2905658.333333333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4078223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T3 same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078223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100%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.0" y="4535423"/>
            <a:ext cx="2905658.333333333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65429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T5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654295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anchor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.0" y="5111495"/>
            <a:ext cx="2905658.333333333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230367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230367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pending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.0" y="5687567"/>
            <a:ext cx="2905658.333333333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322978" y="1874519"/>
            <a:ext cx="354573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22978" y="1874519"/>
            <a:ext cx="3545738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3018" y="2002535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Linux 4060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3018" y="2386583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3D8BFF"/>
                </a:solidFill>
                <a:latin typeface="Georgia"/>
                <a:ea typeface="Noto Serif CJK SC"/>
                <a:cs typeface="Georgia"/>
              </a:rPr>
              <a:t>WSL2 · i7-13700H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3018" y="292607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T1 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8938" y="2926079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7.5 min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643018.333333334" y="3383279"/>
            <a:ext cx="2905658.333333334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643018" y="3502151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T2 predict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8938" y="3502151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13 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643018.333333334" y="3959351"/>
            <a:ext cx="2905658.333333334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643018" y="4078223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T3 same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8938" y="4078223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100%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643018.333333334" y="4535423"/>
            <a:ext cx="2905658.333333334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43018" y="465429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T5 cross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88938" y="4654295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4 / 5 ✓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43018.333333334" y="5111495"/>
            <a:ext cx="2905658.333333334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43018" y="5230367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T6 MD5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88938" y="5230367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IDENTICAL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43018.333333334" y="5687567"/>
            <a:ext cx="2905658.333333334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8097316" y="1874519"/>
            <a:ext cx="3545738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7316" y="1874519"/>
            <a:ext cx="3545738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7356" y="2002535"/>
            <a:ext cx="290565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Windows 4060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7356" y="2386583"/>
            <a:ext cx="290565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3D8BFF"/>
                </a:solidFill>
                <a:latin typeface="Georgia"/>
                <a:ea typeface="Noto Serif CJK SC"/>
                <a:cs typeface="Georgia"/>
              </a:rPr>
              <a:t>Windows 11 · venv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7356" y="292607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T1 train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63276" y="2926079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~9 min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17356.666666668" y="3383279"/>
            <a:ext cx="2905658.333333332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17356" y="3502151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T2 predict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63276" y="3502151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2–3 min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17356.666666668" y="3959351"/>
            <a:ext cx="2905658.333333332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17356" y="4078223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T3 same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63276" y="4078223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1A1F2C"/>
                </a:solidFill>
                <a:latin typeface="Consolas"/>
                <a:ea typeface="Noto Sans CJK SC"/>
                <a:cs typeface="Consolas"/>
              </a:rPr>
              <a:t>100%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17356.666666668" y="4535423"/>
            <a:ext cx="2905658.333333332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17356" y="4654295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T5 cross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63276" y="4654295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0E7C3A"/>
                </a:solidFill>
                <a:latin typeface="Consolas"/>
                <a:ea typeface="Noto Sans CJK SC"/>
                <a:cs typeface="Consolas"/>
              </a:rPr>
              <a:t>5 / 5 ✓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17356.666666668" y="5111495"/>
            <a:ext cx="2905658.333333332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17356" y="5230367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T6 MD5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63276" y="5230367"/>
            <a:ext cx="12597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1" i="0">
                <a:solidFill>
                  <a:srgbClr val="D97706"/>
                </a:solidFill>
                <a:latin typeface="Consolas"/>
                <a:ea typeface="Noto Sans CJK SC"/>
                <a:cs typeface="Consolas"/>
              </a:rPr>
              <a:t>differ*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17356.666666668" y="5687567"/>
            <a:ext cx="2905658.333333332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* Windows MSVC 浮点语义差异；生产链路 (Linux Docker) 已证实 bit-level 一致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RISK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31375" y="23774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09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剩余风险与下一步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6B7A8F"/>
                </a:solidFill>
                <a:latin typeface="Georgia"/>
                <a:ea typeface="Noto Serif CJK SC"/>
                <a:cs typeface="Georgia"/>
              </a:rPr>
              <a:t>Each item tagged with effort / payoff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4415" cy="0"/>
          </a:xfrm>
          <a:prstGeom prst="line">
            <a:avLst/>
          </a:prstGeom>
          <a:ln w="9525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Georgia"/>
                <a:ea typeface="Noto Sans CJK SC"/>
                <a:cs typeface="Georgia"/>
              </a:rPr>
              <a:t>THU-BDC2026 · LGB-only Mainline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65105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0" i="0">
                <a:solidFill>
                  <a:srgbClr val="6B7A8F"/>
                </a:solidFill>
                <a:latin typeface="Consolas"/>
                <a:ea typeface="Noto Sans CJK SC"/>
                <a:cs typeface="Consolas"/>
              </a:rPr>
              <a:t>2026-04-24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5364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剩余风险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331720"/>
            <a:ext cx="5364327.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48640" y="2615184"/>
            <a:ext cx="457200" cy="457200"/>
          </a:xfrm>
          <a:prstGeom prst="rect">
            <a:avLst/>
          </a:prstGeom>
          <a:solidFill>
            <a:srgbClr val="B9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651760"/>
            <a:ext cx="47242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W1 五一 label holiday-forward-fill 未对齐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37560"/>
            <a:ext cx="47242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数据仅到 03-13，W1 T 日 = 04-24 (灰区)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86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23360"/>
            <a:ext cx="47242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init.sh 仍 import torch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09160"/>
            <a:ext cx="47242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回测窗口 82 天偏窄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58384"/>
            <a:ext cx="457200" cy="457200"/>
          </a:xfrm>
          <a:prstGeom prst="rect">
            <a:avLst/>
          </a:prstGeom>
          <a:solidFill>
            <a:srgbClr val="6B7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583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onsolas"/>
                <a:ea typeface="Noto Sans CJK SC"/>
                <a:cs typeface="Consolas"/>
              </a:rP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94960"/>
            <a:ext cx="47242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单一 seed 族 {42,2024,7}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727" y="1828800"/>
            <a:ext cx="536432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B2545"/>
                </a:solidFill>
                <a:latin typeface="Georgia"/>
                <a:ea typeface="Noto Serif CJK SC"/>
                <a:cs typeface="Georgia"/>
              </a:rPr>
              <a:t>改进清单 · 投入 / 回报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78727.5" y="2331720"/>
            <a:ext cx="5364327.5" cy="0"/>
          </a:xfrm>
          <a:prstGeom prst="line">
            <a:avLst/>
          </a:prstGeom>
          <a:ln w="1524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78727" y="25603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1647" y="260604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Label holiday-forward-fill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1415" y="26060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fix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78727.5" y="306324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78727" y="315468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647" y="320040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init.sh 去 torch + Docker dry-run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1415" y="320040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safe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78727.5" y="365760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78727" y="374904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1647" y="379476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rank-weighted + regime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379476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+ 10-30 bp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78727.5" y="425196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78727" y="4343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1647" y="438912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更新数据至 04-24 (待确认)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415" y="438912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freshness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78727.5" y="484632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78727" y="49377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1647" y="498348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LGB 超参集成 × ICIR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1415" y="49834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+ 5-15 bp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278727.5" y="544068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78727" y="553212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1647" y="5577840"/>
            <a:ext cx="32612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A1F2C"/>
                </a:solidFill>
                <a:latin typeface="Georgia"/>
                <a:ea typeface="Noto Serif CJK SC"/>
                <a:cs typeface="Georgia"/>
              </a:rPr>
              <a:t>扩回测 250d + multi-seed bootstrap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51415" y="55778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800" b="1" i="0">
                <a:solidFill>
                  <a:srgbClr val="1E4D8C"/>
                </a:solidFill>
                <a:latin typeface="Consolas"/>
                <a:ea typeface="Noto Sans CJK SC"/>
                <a:cs typeface="Consolas"/>
              </a:rPr>
              <a:t>S / narrative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78727.5" y="6035040"/>
            <a:ext cx="5364327.5" cy="0"/>
          </a:xfrm>
          <a:prstGeom prst="line">
            <a:avLst/>
          </a:prstGeom>
          <a:ln w="381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48640" y="1097280"/>
            <a:ext cx="2194560" cy="0"/>
          </a:xfrm>
          <a:prstGeom prst="line">
            <a:avLst/>
          </a:prstGeom>
          <a:ln w="22860">
            <a:solidFill>
              <a:srgbClr val="3D8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3444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10 / 10   · 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主线收敛。</a:t>
            </a:r>
          </a:p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跑赢 baseline 已完成。</a:t>
            </a:r>
          </a:p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Georgia"/>
                <a:ea typeface="Noto Serif CJK SC"/>
                <a:cs typeface="Georgia"/>
              </a:rPr>
              <a:t>下一步，赛规正确性。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4983480"/>
            <a:ext cx="10698480" cy="0"/>
          </a:xfrm>
          <a:prstGeom prst="line">
            <a:avLst/>
          </a:prstGeom>
          <a:ln w="10160">
            <a:solidFill>
              <a:srgbClr val="1E4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25780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345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5F7FA"/>
                </a:solidFill>
                <a:latin typeface="Georgia"/>
                <a:ea typeface="Noto Serif CJK SC"/>
                <a:cs typeface="Georgia"/>
              </a:rPr>
              <a:t>LGB-only 主线 · Path B · 三平台 T5 ≥ 4/5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8698" y="525780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进行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5623560"/>
            <a:ext cx="345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5F7FA"/>
                </a:solidFill>
                <a:latin typeface="Georgia"/>
                <a:ea typeface="Noto Serif CJK SC"/>
                <a:cs typeface="Georgia"/>
              </a:rPr>
              <a:t>Label 对齐 · 组合优化 · Docker 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8756" y="5257800"/>
            <a:ext cx="345429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待定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8756" y="5623560"/>
            <a:ext cx="345429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5F7FA"/>
                </a:solidFill>
                <a:latin typeface="Georgia"/>
                <a:ea typeface="Noto Serif CJK SC"/>
                <a:cs typeface="Georgia"/>
              </a:rPr>
              <a:t>数据更新 · W1 规则 · 7/18 报备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D8BFF"/>
                </a:solidFill>
                <a:latin typeface="Consolas"/>
                <a:ea typeface="Noto Sans CJK SC"/>
                <a:cs typeface="Consolas"/>
              </a:rPr>
              <a:t>feat/ensemble-v1   ·   2026-04-24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