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THU-BDC2026 / STAGE-01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2026.04.23  ·  branch feat/ensemble-v1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9144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spc="-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+1.446%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457200" y="3977640"/>
            <a:ext cx="457200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69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5-DAY RETURN  ·  82-day rolling backtest  ·  t = +7.245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跑赢 Baseline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LGB-only 主线 · 三重独立验证 · 跨平台 Top-5 bit-level 一致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0" y="1828800"/>
            <a:ext cx="27432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0" y="2194560"/>
            <a:ext cx="27432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0" y="2560320"/>
            <a:ext cx="27432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0" y="2926080"/>
            <a:ext cx="27432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0" y="3291840"/>
            <a:ext cx="27432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0" y="3657600"/>
            <a:ext cx="27432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0" y="4023360"/>
            <a:ext cx="27432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4389120"/>
            <a:ext cx="27432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6217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C4BDC · CSI-300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01  PROBLEM &amp; CONSTRAINTS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赛题：沪深 300 成分股周度选股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T+1 开盘买入 · T+5 开盘卖出 · 至多 5 只 · 权重和 ≤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0604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0" cy="228600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2194560"/>
            <a:ext cx="0" cy="228600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480560"/>
            <a:ext cx="260604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TRAINING 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≤ 8h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training, full reproducibility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128" y="2194560"/>
            <a:ext cx="260604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2194560"/>
            <a:ext cx="0" cy="228600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6168" y="2194560"/>
            <a:ext cx="0" cy="228600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10128" y="4480560"/>
            <a:ext cx="260604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INFERENCE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93008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≤ 5min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3493008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prediction window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63056" y="2194560"/>
            <a:ext cx="260604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63056" y="2194560"/>
            <a:ext cx="0" cy="228600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69096" y="2194560"/>
            <a:ext cx="0" cy="228600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4480560"/>
            <a:ext cx="260604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IMAGE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45936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≤ 10GB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345936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uncompressed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15984" y="2194560"/>
            <a:ext cx="260604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15984" y="2194560"/>
            <a:ext cx="0" cy="228600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22024" y="2194560"/>
            <a:ext cx="0" cy="228600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4480560"/>
            <a:ext cx="260604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98864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GPU MEMORY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98864" y="2743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8 GB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9198864" y="3840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RTX 4060 · evaluation rig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FROM-SCRATCH REPRODUCIBILITY   +   OFFLINE INFERENCE   +   DATA CUTOFF 2026-04-01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5486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报备截止 2026-07-18  →  正式评测 W1 / W2 / W3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4060 8GB 是最紧的约束，它决定了模型选择的下限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02  BASELINE AUTOPSY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赛方 StockTransformer：系统性亏损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82 天 rolling backtest · Open_{T+5} / Open_{T+1} − 1 口径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spc="-100" kern="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−0.686%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5-DAY RETURN  ·  74 eval dates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3657600" cy="0"/>
          </a:xfrm>
          <a:prstGeom prst="line">
            <a:avLst/>
          </a:prstGeom>
          <a:noFill/>
          <a:ln w="19050">
            <a:solidFill>
              <a:srgbClr val="C12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t-stat vs 0 = −4.335   (p &lt; 0.0001)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292E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显著亏损 · 不是随机波动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 rate (&gt;0)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31.08%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149840" y="2194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2/3 的日子在亏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2578608"/>
            <a:ext cx="566928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 5d return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265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−0.783%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149840" y="2651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中位数也为负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3035808"/>
            <a:ext cx="566928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3108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1.360%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14984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方差小但方向错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3493008"/>
            <a:ext cx="566928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score (赛方)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3566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0.0655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4984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其自定义 metric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3950208"/>
            <a:ext cx="566928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 recipe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4023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149840" y="4023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永不 walk-forward 重训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4407408"/>
            <a:ext cx="566928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4480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TX · 256d × 3L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14984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over-param for 300 × 60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4864608"/>
            <a:ext cx="566928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赛方 Transformer 在 82 天窗口系统性亏损 · 跑赢门槛自然成立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03  SOLUTION EVOLUTION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从三模型集成到 LGB-only 单兵作战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四周演进 · 一次关键反转 · 两次消融实证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2194560"/>
            <a:ext cx="0" cy="3767328"/>
          </a:xfrm>
          <a:prstGeom prst="line">
            <a:avLst/>
          </a:prstGeom>
          <a:noFill/>
          <a:ln w="12700">
            <a:solidFill>
              <a:srgbClr val="2A2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167128"/>
            <a:ext cx="201168" cy="201168"/>
          </a:xfrm>
          <a:prstGeom prst="ellipse">
            <a:avLst/>
          </a:prstGeom>
          <a:solidFill>
            <a:srgbClr val="14181F"/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05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−0.686%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240487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赛方 StockTransformer · 无重训 · 82d rolling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2825496"/>
            <a:ext cx="201168" cy="201168"/>
          </a:xfrm>
          <a:prstGeom prst="ellipse">
            <a:avLst/>
          </a:prstGeom>
          <a:solidFill>
            <a:srgbClr val="14181F"/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715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三模型集成 v1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7157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+1.000%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306324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LGB + MASTER + StockMixer · 权重 {0.1, 0.9, 0.0}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0" y="3483864"/>
            <a:ext cx="201168" cy="201168"/>
          </a:xfrm>
          <a:prstGeom prst="ellipse">
            <a:avLst/>
          </a:prstGeom>
          <a:solidFill>
            <a:srgbClr val="14181F"/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472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83080" y="33741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稳健化 · ICIR v2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3741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代码完成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83080" y="372160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KL-shrink + LOO λ + bootstrap · 6 单测通过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4142232"/>
            <a:ext cx="201168" cy="20116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056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3080" y="403250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Path B 发现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0325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+1.446%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83080" y="4379976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砍掉 MASTER/Mixer · 训练 9 min · 胜率 84%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4800600"/>
            <a:ext cx="201168" cy="201168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640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B2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83080" y="46908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MASTER 非确定性实证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46908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diff=0.17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783080" y="5038344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Win/Linux val_scores 对比 · ICIR 权重反向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71600" y="5458968"/>
            <a:ext cx="201168" cy="201168"/>
          </a:xfrm>
          <a:prstGeom prst="ellipse">
            <a:avLst/>
          </a:prstGeom>
          <a:solidFill>
            <a:srgbClr val="14181F"/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422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PHASE 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83080" y="5349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LGB-only 主线化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0" y="5349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当前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783080" y="569671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deterministic_top_k · 跨机 Top-5 · 镜像 1.5G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PHASE B 是反直觉转折 · PHASE B2 是合规被迫之选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04  THE DECISIVE MOMENT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MASTER 跨平台 score 差 0.17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赛规要求「从训练开始可复现」· 这是合规红线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spc="-300" kern="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0.17</a:t>
            </a:r>
            <a:endParaRPr lang="en-US" sz="200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ABS DIFF  ·  max 0.95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5120640"/>
            <a:ext cx="3657600" cy="0"/>
          </a:xfrm>
          <a:prstGeom prst="line">
            <a:avLst/>
          </a:prstGeom>
          <a:noFill/>
          <a:ln w="19050">
            <a:solidFill>
              <a:srgbClr val="C12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MASTER · Win vs Linux · same seed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CROSS-PLATFORM MEAN |Δscore|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25146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LGB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1e-3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9264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 · bucketable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2971800"/>
            <a:ext cx="512064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017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Mixer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63840" y="3017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1e-6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926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3474720"/>
            <a:ext cx="512064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520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1292E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MASTER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63840" y="3520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926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3977640"/>
            <a:ext cx="512064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251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4572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scaled_dot_product_attention.backward() 走 Memory-Efficient kernel，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0" y="4846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CUDA 调度非确定 → ICIR 权重在 Linux {0.28, 0.42, 0.30}，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0" y="5120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在 Windows {0, 0.98, 0.015} — 完全反向。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0" y="54864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F1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→ 违反赛规复现要求 · 必须砍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性能只是考虑之一 · 合规是否决项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05  COUNTER-INTUITIVE FINDING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Path B · 单模型打赢三模型集成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砍掉 MASTER 与 Mixer 后，LGB-only 全面超越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394960" cy="0"/>
          </a:xfrm>
          <a:prstGeom prst="line">
            <a:avLst/>
          </a:prstGeom>
          <a:noFill/>
          <a:ln w="19050">
            <a:solidFill>
              <a:srgbClr val="9A9F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三模型集成 v1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LGB + MASTER + StockMixer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+1.000%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5D RETURN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4297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75.86%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626864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45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 vs baseline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0" y="46451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+4.78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974336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926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49926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6.3 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400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53400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mandatory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669280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687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5687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~4 GB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6016752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035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0" y="6035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BROKEN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6364224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011680"/>
            <a:ext cx="539496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103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F1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LGB-only (Path B)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92240" y="2468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LightGBM + DoubleEnsemble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28346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+1.446%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649224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5D RETURN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4297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 rate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61120" y="4297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84.15%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92240" y="4626864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645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 vs baseline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61120" y="46451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+7.24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92240" y="4974336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9926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961120" y="49926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min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92240" y="5321808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53400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61120" y="53400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none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92240" y="5669280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5687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961120" y="56875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~1.5 GB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92240" y="6016752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6035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961120" y="6035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OK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92240" y="6364224"/>
            <a:ext cx="502920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9F1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⟶</a:t>
            </a:r>
            <a:endParaRPr lang="en-US" sz="3600" dirty="0"/>
          </a:p>
        </p:txBody>
      </p:sp>
      <p:sp>
        <p:nvSpPr>
          <p:cNvPr id="54" name="Shape 52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单模型 +45 bp · 训练快 42× · 合规从 BROKEN 回到 OK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06  HEADLINE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82 天 Rolling Backtest · LGB-only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2025-11-03 .. 2026-03-06 · tradable filter · 3 bps cost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65760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5D RETURN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+1.446%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vs baseline −0.686%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2148840"/>
            <a:ext cx="365760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WIN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70832" y="26517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84.15%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370832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baseline 31.08%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84464" y="2148840"/>
            <a:ext cx="365760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T-STAT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84464" y="265176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+7.24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284464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 &lt; 0.0001 · N = 82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DETAILED COMPARISON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METRIC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1752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LGB-only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69680" y="4754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HS300 equal-wt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11274552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074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5d return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50749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+1.446%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50749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−0.686%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0" y="50749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+0.110%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5303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5303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+0.944%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5303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−0.783%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69680" y="5303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5532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17520" y="5532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1.836%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5532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1.360%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69680" y="5532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760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 rate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017520" y="5760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84.15%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5760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31.08%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69680" y="5760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60.92%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59893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t-stat vs 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017520" y="5989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+7.245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5989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−4.335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869680" y="59893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领先 +213 bp · 胜率差 +53 pp · t-stat 跨 11 sigma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07  TRIPLE 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三个独立口径 · 同向结论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不同窗口、不同脚本、不同统计工具 · LGB 全部领先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57600" cy="0"/>
          </a:xfrm>
          <a:prstGeom prst="line">
            <a:avLst/>
          </a:prstGeom>
          <a:noFill/>
          <a:ln w="15240">
            <a:solidFill>
              <a:srgbClr val="FF9F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0" cy="416052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965960"/>
            <a:ext cx="0" cy="416052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6126480"/>
            <a:ext cx="365760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9F1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82-DAY ROLLING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walk-forward backtest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+1.446%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LGB-only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−0.686%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5029200"/>
            <a:ext cx="329184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Δ  +213 bp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 = +7.24 vs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= 82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 cost + filter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70832" y="1965960"/>
            <a:ext cx="3657600" cy="0"/>
          </a:xfrm>
          <a:prstGeom prst="line">
            <a:avLst/>
          </a:prstGeom>
          <a:noFill/>
          <a:ln w="15240">
            <a:solidFill>
              <a:srgbClr val="FF9F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1965960"/>
            <a:ext cx="0" cy="416052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28432" y="1965960"/>
            <a:ext cx="0" cy="416052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0832" y="6126480"/>
            <a:ext cx="365760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9F1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48072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score_self · T=03-03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48072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赛方原装评分脚本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53712" y="2926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+3.485%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553712" y="3840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LGB-only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53712" y="4206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−0.944%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53712" y="47091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53712" y="5029200"/>
            <a:ext cx="329184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Δ  +443 bp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53712" y="5532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持有 03-04 .. 03-10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交易日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weight = 0.2 等权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84464" y="1965960"/>
            <a:ext cx="3657600" cy="0"/>
          </a:xfrm>
          <a:prstGeom prst="line">
            <a:avLst/>
          </a:prstGeom>
          <a:noFill/>
          <a:ln w="15240">
            <a:solidFill>
              <a:srgbClr val="FF9F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84464" y="1965960"/>
            <a:ext cx="0" cy="416052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942064" y="1965960"/>
            <a:ext cx="0" cy="416052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84464" y="6126480"/>
            <a:ext cx="365760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67344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9F1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061704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score_self · T=03-06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061704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C4BD 项目独立复现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67344" y="2926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+1.761%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8467344" y="3840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LGB-only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467344" y="4206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+1.325%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8467344" y="47091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467344" y="5029200"/>
            <a:ext cx="329184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67344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Δ  +44 bp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467344" y="55321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持有 03-09 .. 03-13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精确复现至 1e-16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small-edge window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三组数据同向 · t-stat 压倒性 · 跑赢门槛稳固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08  HEADROOM VS CONSTRAINTS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所有硬约束都有巨大余量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训练用掉上限 2% · 镜像用掉上限 15% · 评测 GPU 完全闲置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TRAINING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8 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×42 under cap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1274552" cy="137160"/>
          </a:xfrm>
          <a:prstGeom prst="rect">
            <a:avLst/>
          </a:prstGeom>
          <a:solidFill>
            <a:srgbClr val="14181F"/>
          </a:solidFill>
          <a:ln w="3810">
            <a:solidFill>
              <a:srgbClr val="2A2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225491" cy="1371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5838" y="256032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4476" y="256032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3114" y="256032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31752" y="256032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 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5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4× headroom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11274552" cy="137160"/>
          </a:xfrm>
          <a:prstGeom prst="rect">
            <a:avLst/>
          </a:prstGeom>
          <a:solidFill>
            <a:srgbClr val="14181F"/>
          </a:solidFill>
          <a:ln w="3810">
            <a:solidFill>
              <a:srgbClr val="2A2E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46120"/>
            <a:ext cx="2254910" cy="1371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75838" y="338328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4476" y="338328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3114" y="338328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31752" y="338328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~1.5 GB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0624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10 GB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torch 已移除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069080"/>
            <a:ext cx="11274552" cy="137160"/>
          </a:xfrm>
          <a:prstGeom prst="rect">
            <a:avLst/>
          </a:prstGeom>
          <a:solidFill>
            <a:srgbClr val="14181F"/>
          </a:solidFill>
          <a:ln w="3810">
            <a:solidFill>
              <a:srgbClr val="2A2E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069080"/>
            <a:ext cx="1691183" cy="1371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75838" y="420624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4476" y="420624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3114" y="420624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31752" y="420624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80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GPU MEM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77440" y="4480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MiB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206240" y="4480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8 GB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72400" y="4480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不碰 GPU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11274552" cy="137160"/>
          </a:xfrm>
          <a:prstGeom prst="rect">
            <a:avLst/>
          </a:prstGeom>
          <a:solidFill>
            <a:srgbClr val="14181F"/>
          </a:solidFill>
          <a:ln w="3810">
            <a:solidFill>
              <a:srgbClr val="2A2E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892040"/>
            <a:ext cx="18288" cy="1371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75838" y="502920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94476" y="502920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13114" y="502920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731752" y="502920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5303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CROSS-PLAT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77440" y="5303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1e-3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206240" y="5303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 —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0" y="5303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bucketable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5715000"/>
            <a:ext cx="11274552" cy="137160"/>
          </a:xfrm>
          <a:prstGeom prst="rect">
            <a:avLst/>
          </a:prstGeom>
          <a:solidFill>
            <a:srgbClr val="14181F"/>
          </a:solidFill>
          <a:ln w="3810">
            <a:solidFill>
              <a:srgbClr val="2A2E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5715000"/>
            <a:ext cx="112746" cy="1371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75838" y="585216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94476" y="585216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13114" y="585216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31752" y="5852160"/>
            <a:ext cx="0" cy="73152"/>
          </a:xfrm>
          <a:prstGeom prst="line">
            <a:avLst/>
          </a:prstGeom>
          <a:noFill/>
          <a:ln w="5080">
            <a:solidFill>
              <a:srgbClr val="6B6F7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余量全部富余 → 后续迭代有充足预算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09  REPRODUCIBILITY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跨机 Top-5 bit-level 一致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量化分桶 + stock_id 字典序 tie-break · 覆盖 LGB 的 1e-3 噪声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760720" cy="4023360"/>
          </a:xfrm>
          <a:prstGeom prst="rect">
            <a:avLst/>
          </a:prstGeom>
          <a:solidFill>
            <a:srgbClr val="14181F"/>
          </a:solidFill>
          <a:ln w="6350">
            <a:solidFill>
              <a:srgbClr val="2A2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code/src/ensemble/portfolio.py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394960" cy="0"/>
          </a:xfrm>
          <a:prstGeom prst="line">
            <a:avLst/>
          </a:prstGeom>
          <a:noFill/>
          <a:ln w="5080">
            <a:solidFill>
              <a:srgbClr val="2A2E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603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deterministic_top_k(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df, k=5, score_col='score',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id_col='stock_id', quantize=1e-4):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out = df.copy()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out['score_q'] = (out[score_col]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    / quantize).round() * quantize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48056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out = out.sort_values(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7548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by=['score_q', id_col],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02920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ascending=[False, True],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53035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kind='mergesort')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5778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out.head(k).reset_index(drop=True)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011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PRINCIPLE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2331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LGB 在不同 BLAS/OpenMP 调度下的分数差在 1e-3 量级。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606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把 score 量化到 1e-4 分桶 → 同桶内靠确定性 stock_id 破局。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8803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→ 跨机 Top-5 完全一致，weight diff ≤ 1e-6。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3429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GUARANTEES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0" y="3749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0" y="3794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pytest 单测 · 全绿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4133088"/>
            <a:ext cx="512064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1879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1e-6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2400" y="4233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同机复现 weight diff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4572000"/>
            <a:ext cx="512064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62686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1e-3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72400" y="46725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跨机 score 噪声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5010912"/>
            <a:ext cx="512064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506577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2400" y="51114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GPU 依赖数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5449824"/>
            <a:ext cx="512064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55046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4D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≥4/5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72400" y="55504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跨机 Top-5 交集阈值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5888736"/>
            <a:ext cx="512064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复现性不是副产品 · 是从设计开始的一等公民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10  CROSS-MACHINE VALIDATION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T1 – T8 · 4060 真机测试清单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5090 训练产出已打包交付 · Linux + Windows 双端子任务下发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0"/>
          </a:xfrm>
          <a:prstGeom prst="line">
            <a:avLst/>
          </a:prstGeom>
          <a:noFill/>
          <a:ln w="19050">
            <a:solidFill>
              <a:srgbClr val="2A2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210312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840480"/>
            <a:ext cx="265176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40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E35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4592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2A2E3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PENDING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入口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≤ 30 min · 产出 refit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103120"/>
            <a:ext cx="2651760" cy="0"/>
          </a:xfrm>
          <a:prstGeom prst="line">
            <a:avLst/>
          </a:prstGeom>
          <a:noFill/>
          <a:ln w="19050">
            <a:solidFill>
              <a:srgbClr val="2A2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10312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210312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3840480"/>
            <a:ext cx="265176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2240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E35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48056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2A2E3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PENDING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472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入口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≤ 1 min · result.csv 合规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103120"/>
            <a:ext cx="2651760" cy="0"/>
          </a:xfrm>
          <a:prstGeom prst="line">
            <a:avLst/>
          </a:prstGeom>
          <a:noFill/>
          <a:ln w="19050">
            <a:solidFill>
              <a:srgbClr val="2A2E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10312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210312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840480"/>
            <a:ext cx="265176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240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E35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31520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2A2E3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PENDING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093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同机复现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weight diff ≤ 1e-6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961120" y="2103120"/>
            <a:ext cx="2651760" cy="0"/>
          </a:xfrm>
          <a:prstGeom prst="line">
            <a:avLst/>
          </a:prstGeom>
          <a:noFill/>
          <a:ln w="19050">
            <a:solidFill>
              <a:srgbClr val="2A2E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1120" y="210312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612880" y="210312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61120" y="3840480"/>
            <a:ext cx="265176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2240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E35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014984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2A2E3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PENDING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14400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端到端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镜像 ≤ 2 GB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023360"/>
            <a:ext cx="265176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02336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08960" y="402336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5760720"/>
            <a:ext cx="265176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160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9F1C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T5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164592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008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跨机 Top-5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5090 ↔ 4060 · ≥ 4/5 overlap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91840" y="4023360"/>
            <a:ext cx="2651760" cy="0"/>
          </a:xfrm>
          <a:prstGeom prst="line">
            <a:avLst/>
          </a:prstGeom>
          <a:noFill/>
          <a:ln w="19050">
            <a:solidFill>
              <a:srgbClr val="2A2E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402336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02336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1840" y="5760720"/>
            <a:ext cx="265176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4160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E35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T6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448056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2A2E3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PENDING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47472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Bit-level MD5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474720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LGB_NUM_THREADS=1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26480" y="4023360"/>
            <a:ext cx="2651760" cy="0"/>
          </a:xfrm>
          <a:prstGeom prst="line">
            <a:avLst/>
          </a:prstGeom>
          <a:noFill/>
          <a:ln w="19050">
            <a:solidFill>
              <a:srgbClr val="2A2E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0" y="402336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78240" y="402336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26480" y="5760720"/>
            <a:ext cx="265176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4160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2E35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T7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731520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2A2E3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PENDING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0936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 显存旁路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309360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peak ≤ 50 MiB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961120" y="4023360"/>
            <a:ext cx="2651760" cy="0"/>
          </a:xfrm>
          <a:prstGeom prst="line">
            <a:avLst/>
          </a:prstGeom>
          <a:noFill/>
          <a:ln w="19050">
            <a:solidFill>
              <a:srgbClr val="6B6F7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61120" y="402336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12880" y="4023360"/>
            <a:ext cx="0" cy="173736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61120" y="5760720"/>
            <a:ext cx="2651760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0" y="4160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6B6F76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T8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1014984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OPTIONAL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14400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Legacy 对照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9144000" y="5166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FA7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3-model OOM 预期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T5 是当前最关键 blocker · 队友执行中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11  RISK REGISTER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当前风险 · 诚实披露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按影响 × 概率排序 · 已识别 + 缓解方案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4964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1274552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68880"/>
            <a:ext cx="73152" cy="411480"/>
          </a:xfrm>
          <a:prstGeom prst="rect">
            <a:avLst/>
          </a:prstGeom>
          <a:solidFill>
            <a:srgbClr val="C1292E"/>
          </a:solidFill>
          <a:ln w="12700">
            <a:solidFill>
              <a:srgbClr val="C12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68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423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W1 五一假期 label 口径错位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05-01 休市 · T+5 撞上无交易日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49640" y="2468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holiday-forward-fill 对齐赛委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11274552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90672"/>
            <a:ext cx="73152" cy="411480"/>
          </a:xfrm>
          <a:prstGeom prst="rect">
            <a:avLst/>
          </a:prstGeom>
          <a:solidFill>
            <a:srgbClr val="C1292E"/>
          </a:solidFill>
          <a:ln w="12700">
            <a:solidFill>
              <a:srgbClr val="C12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906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292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30449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4060 跨机 T5 不通过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30906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LGB 残余非确定源未穷尽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49640" y="30906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已有 bit-level MD5 比对工具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47872"/>
            <a:ext cx="11274552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12464"/>
            <a:ext cx="73152" cy="4114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1246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36667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数据仅到 2026-03-13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371246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W1 T 日为 04-24 · 差 6 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49640" y="371246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待确认赛方是否允许 baostock 新抓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69664"/>
            <a:ext cx="11274552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334256"/>
            <a:ext cx="73152" cy="4114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33425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00200" y="42885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回测 82 天偏窄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3342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未覆盖多 regime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549640" y="433425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扩到 2024-06 起 250d + bootstrap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91456"/>
            <a:ext cx="11274552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956048"/>
            <a:ext cx="73152" cy="411480"/>
          </a:xfrm>
          <a:prstGeom prst="rect">
            <a:avLst/>
          </a:prstGeom>
          <a:solidFill>
            <a:srgbClr val="6B6F76"/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9560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00200" y="49103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单 seed 族 {42,2024,7}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03520" y="4956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可能种子依赖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49640" y="49560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bootstrap 置信区间已实现未跑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413248"/>
            <a:ext cx="11274552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5577840"/>
            <a:ext cx="73152" cy="411480"/>
          </a:xfrm>
          <a:prstGeom prst="rect">
            <a:avLst/>
          </a:prstGeom>
          <a:solidFill>
            <a:srgbClr val="6B6F76"/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577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600200" y="5532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init.sh 还 import torch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03520" y="5577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去 torch 后 Docker 会挂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549640" y="5577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改一行即可 · 本周处理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6035040"/>
            <a:ext cx="11274552" cy="0"/>
          </a:xfrm>
          <a:prstGeom prst="line">
            <a:avLst/>
          </a:prstGeom>
          <a:noFill/>
          <a:ln w="3810">
            <a:solidFill>
              <a:srgbClr val="2A2E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所有风险都有对应 mitigation · 五一 label 是最大盲区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12 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92608"/>
            <a:ext cx="3502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THU-BDC2026 / Stage Report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改进清单 · 按投入回报排序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FA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#1-#5 两三天可完成 · #6-#9 为后续迭代空间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RETURN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EFFORT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1274552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50592"/>
            <a:ext cx="548640" cy="292608"/>
          </a:xfrm>
          <a:prstGeom prst="rect">
            <a:avLst/>
          </a:prstGeom>
          <a:solidFill>
            <a:srgbClr val="C1292E"/>
          </a:solidFill>
          <a:ln w="12700">
            <a:solidFill>
              <a:srgbClr val="C12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5059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423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 口径 holiday-forward-fill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修偏差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11274552" cy="0"/>
          </a:xfrm>
          <a:prstGeom prst="line">
            <a:avLst/>
          </a:prstGeom>
          <a:noFill/>
          <a:ln w="2540">
            <a:solidFill>
              <a:srgbClr val="2A2E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52928"/>
            <a:ext cx="548640" cy="292608"/>
          </a:xfrm>
          <a:prstGeom prst="rect">
            <a:avLst/>
          </a:prstGeom>
          <a:solidFill>
            <a:srgbClr val="C1292E"/>
          </a:solidFill>
          <a:ln w="12700">
            <a:solidFill>
              <a:srgbClr val="C12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5292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282549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init.sh/uv.lock 去 torch + Docker dry-run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82549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防崩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0" y="282549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191256"/>
            <a:ext cx="11274552" cy="0"/>
          </a:xfrm>
          <a:prstGeom prst="line">
            <a:avLst/>
          </a:prstGeom>
          <a:noFill/>
          <a:ln w="2540">
            <a:solidFill>
              <a:srgbClr val="2A2E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55264"/>
            <a:ext cx="548640" cy="2926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5526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32278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组合构造 · rank-weighted + regime gate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2278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+10~30 bp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0" y="32278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593592"/>
            <a:ext cx="11274552" cy="0"/>
          </a:xfrm>
          <a:prstGeom prst="line">
            <a:avLst/>
          </a:prstGeom>
          <a:noFill/>
          <a:ln w="2540">
            <a:solidFill>
              <a:srgbClr val="2A2E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657600"/>
            <a:ext cx="548640" cy="2926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576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36301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数据更新到 2026-04-24 (待官方确认)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36301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时效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0" y="36301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995928"/>
            <a:ext cx="11274552" cy="0"/>
          </a:xfrm>
          <a:prstGeom prst="line">
            <a:avLst/>
          </a:prstGeom>
          <a:noFill/>
          <a:ln w="2540">
            <a:solidFill>
              <a:srgbClr val="2A2E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059936"/>
            <a:ext cx="548640" cy="2926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5993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88720" y="40325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历史成分股对齐 · 消幸存者偏差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72400" y="403250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回测可信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0" y="403250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398264"/>
            <a:ext cx="11274552" cy="0"/>
          </a:xfrm>
          <a:prstGeom prst="line">
            <a:avLst/>
          </a:prstGeom>
          <a:noFill/>
          <a:ln w="2540">
            <a:solidFill>
              <a:srgbClr val="2A2E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462272"/>
            <a:ext cx="548640" cy="292608"/>
          </a:xfrm>
          <a:prstGeom prst="rect">
            <a:avLst/>
          </a:prstGeom>
          <a:solidFill>
            <a:srgbClr val="FFD28A"/>
          </a:solidFill>
          <a:ln w="12700">
            <a:solidFill>
              <a:srgbClr val="FFD2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6227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88720" y="4434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LGB 超参集成 × ICIR 稳健权重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77240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+5~15 bp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058400" y="4434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4800600"/>
            <a:ext cx="11274552" cy="0"/>
          </a:xfrm>
          <a:prstGeom prst="line">
            <a:avLst/>
          </a:prstGeom>
          <a:noFill/>
          <a:ln w="2540">
            <a:solidFill>
              <a:srgbClr val="2A2E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864608"/>
            <a:ext cx="548640" cy="292608"/>
          </a:xfrm>
          <a:prstGeom prst="rect">
            <a:avLst/>
          </a:prstGeom>
          <a:solidFill>
            <a:srgbClr val="FFD28A"/>
          </a:solidFill>
          <a:ln w="12700">
            <a:solidFill>
              <a:srgbClr val="FFD2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86460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88720" y="483717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回测扩 250d + 多 seed bootstrap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72400" y="48371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叙事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058400" y="483717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5202936"/>
            <a:ext cx="11274552" cy="0"/>
          </a:xfrm>
          <a:prstGeom prst="line">
            <a:avLst/>
          </a:prstGeom>
          <a:noFill/>
          <a:ln w="2540">
            <a:solidFill>
              <a:srgbClr val="2A2E3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5266944"/>
            <a:ext cx="548640" cy="292608"/>
          </a:xfrm>
          <a:prstGeom prst="rect">
            <a:avLst/>
          </a:prstGeom>
          <a:solidFill>
            <a:srgbClr val="FFD28A"/>
          </a:solidFill>
          <a:ln w="12700">
            <a:solidFill>
              <a:srgbClr val="FFD2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526694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88720" y="52395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行业中性化 + 基本面补齐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772400" y="52395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058400" y="52395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7200" y="5605272"/>
            <a:ext cx="11274552" cy="0"/>
          </a:xfrm>
          <a:prstGeom prst="line">
            <a:avLst/>
          </a:prstGeom>
          <a:noFill/>
          <a:ln w="2540">
            <a:solidFill>
              <a:srgbClr val="2A2E3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7200" y="5669280"/>
            <a:ext cx="548640" cy="292608"/>
          </a:xfrm>
          <a:prstGeom prst="rect">
            <a:avLst/>
          </a:prstGeom>
          <a:solidFill>
            <a:srgbClr val="6B6F76"/>
          </a:solidFill>
          <a:ln w="12700">
            <a:solidFill>
              <a:srgbClr val="6B6F7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566928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1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P3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88720" y="56418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Portfolio-aware loss · top-K diff ranking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772400" y="56418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2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 高风险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058400" y="56418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FA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57200" y="6007608"/>
            <a:ext cx="11274552" cy="0"/>
          </a:xfrm>
          <a:prstGeom prst="line">
            <a:avLst/>
          </a:prstGeom>
          <a:noFill/>
          <a:ln w="2540">
            <a:solidFill>
              <a:srgbClr val="2A2E3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58521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 ≈ 半天    M ≈ 1–2 天    L ≈ 一周+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" y="6309360"/>
            <a:ext cx="11274552" cy="0"/>
          </a:xfrm>
          <a:prstGeom prst="line">
            <a:avLst/>
          </a:prstGeom>
          <a:noFill/>
          <a:ln w="9525">
            <a:solidFill>
              <a:srgbClr val="2A2E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— 两个 P0 是合规红线 · 三个 P1 是 alpha 提升点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058400" y="6400800"/>
            <a:ext cx="1673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 THU-BDC2026 / STAGE-01 / 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8E4D9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主线已收敛。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D28A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跑赢 baseline · 三重独立验证 · 跨平台一致。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3657600" cy="0"/>
          </a:xfrm>
          <a:prstGeom prst="line">
            <a:avLst/>
          </a:prstGeom>
          <a:noFill/>
          <a:ln w="15240">
            <a:solidFill>
              <a:srgbClr val="FF9F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11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+1.446%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82d mean 5d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3474720"/>
            <a:ext cx="3657600" cy="0"/>
          </a:xfrm>
          <a:prstGeom prst="line">
            <a:avLst/>
          </a:prstGeom>
          <a:noFill/>
          <a:ln w="15240">
            <a:solidFill>
              <a:srgbClr val="FF9F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3611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+7.24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370832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t-stat vs 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84464" y="3474720"/>
            <a:ext cx="3657600" cy="0"/>
          </a:xfrm>
          <a:prstGeom prst="line">
            <a:avLst/>
          </a:prstGeom>
          <a:noFill/>
          <a:ln w="15240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3611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min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8284464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3657600" cy="0"/>
          </a:xfrm>
          <a:prstGeom prst="line">
            <a:avLst/>
          </a:prstGeom>
          <a:noFill/>
          <a:ln w="6350">
            <a:solidFill>
              <a:srgbClr val="2A2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4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 holiday-forward-fill · 组合构造 rank-weighted · 4060 T5 验证回报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证据文件：docs/findings  ·  docs/reports  ·  docs/handoff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C4BDC · Team Lv / 2026.04.23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0" y="6400800"/>
            <a:ext cx="1673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9F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THU-BDC2026 · LGB-only 阶段性汇报</dc:title>
  <dc:subject>PptxGenJS Presentation</dc:subject>
  <dc:creator>Team C4BDC</dc:creator>
  <cp:lastModifiedBy>Team C4BDC</cp:lastModifiedBy>
  <cp:revision>1</cp:revision>
  <dcterms:created xsi:type="dcterms:W3CDTF">2026-04-23T17:44:15Z</dcterms:created>
  <dcterms:modified xsi:type="dcterms:W3CDTF">2026-04-23T17:44:15Z</dcterms:modified>
</cp:coreProperties>
</file>