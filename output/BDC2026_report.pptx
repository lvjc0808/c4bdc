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1" i="0" u="none" strike="noStrike">
                <a:solidFill>
                  <a:srgbClr val="0A1628"/>
                </a:solidFill>
                <a:latin typeface="Georgia"/>
              </a:defRPr>
            </a:pPr>
            <a:r>
              <a:rPr sz="1800" b="1" i="0" u="none" strike="noStrike">
                <a:solidFill>
                  <a:srgbClr val="0A1628"/>
                </a:solidFill>
                <a:latin typeface="Georgia"/>
              </a:rPr>
              <a:t>Mean 5-Day Return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 5 日收益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730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我方集成</c:v>
                  </c:pt>
                  <c:pt idx="1">
                    <c:v>等权 HS300</c:v>
                  </c:pt>
                  <c:pt idx="2">
                    <c:v>5 日动量 Top-K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1.01</c:v>
                </c:pt>
                <c:pt idx="1">
                  <c:v>0.11</c:v>
                </c:pt>
                <c:pt idx="2">
                  <c:v>-0.76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6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A162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943600"/>
            <a:ext cx="11548872" cy="7315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沪深 300 Top-K 组合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97280" y="2788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收益预测系统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097280" y="3886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MASTER · StockMixer   |   三模型集成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中国高校计算机大赛 — 大数据挑战赛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6446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阶段性汇报  ·  2026 / 04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 · 核心结论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交易日严格滚动回测 · 训练 / 推理 / 镜像全部在硬约束内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7305C"/>
          </a:solidFill>
          <a:ln w="19050">
            <a:solidFill>
              <a:srgbClr val="E8B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+1.01%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 5 日开盘-开盘平均收益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7305C"/>
          </a:solidFill>
          <a:ln w="19050">
            <a:solidFill>
              <a:srgbClr val="E8B1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031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75.86%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617720" y="3429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单日胜率（收益 &gt; 0）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75320" y="1920240"/>
            <a:ext cx="3520440" cy="2377440"/>
          </a:xfrm>
          <a:prstGeom prst="roundRect">
            <a:avLst>
              <a:gd name="adj" fmla="val 3846"/>
            </a:avLst>
          </a:prstGeom>
          <a:solidFill>
            <a:srgbClr val="17305C"/>
          </a:solidFill>
          <a:ln w="19050">
            <a:solidFill>
              <a:srgbClr val="E8B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10312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p&lt;0.0001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412480" y="342900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等权 HS300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+4.78, N = 87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4617720"/>
            <a:ext cx="109728" cy="50292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工程预算对账 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6.3 h / 8 h · 推理 &lt; 3 min / 5 min · 镜像 ~4 GB / 10 GB · 两次推理 MD5 一致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5800" y="5303520"/>
            <a:ext cx="109728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578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Phase-A 优化 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涨停过滤 + 6 bp 手续费后 mean 仅降 1 bp，显著性保持 p&lt;0.0001，推荐作为正式提交配置。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关键启示：学习横截面相对排名，不依赖市场趋势 — 本窗口动量策略全程亏损 (−0.76% / 5d)。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25603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&amp; Constraints · 赛题与约束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300 · T+1 开盘买入 / T+5 开盘卖出 · Top-K ≤ 5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要求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预测目标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沪深 300 成分股 T+1 开盘买入、T+5 开盘卖出的 Top-K 组合收益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输出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result.csv：stock_id, weight；≤ 5 只；权重和 ≤ 1（现金补足）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i7-13650H   /   16 GB   /   RTX 4060 8 GB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训练时长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小时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推理时长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分钟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运行时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离线（无网络） · Docker 镜像 ≤ 10 GB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可复现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固定随机种子，两次训练 / 推理权重与输出 MD5 一致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数据截止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 前公开资源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25603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· 整体架构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单一入口 pipeline.py { train | predict 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173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128016" cy="178308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数据层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baostock 离线 ~85 MB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行情 · 估值 · 行业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成分股史 · 指数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173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91640"/>
            <a:ext cx="128016" cy="178308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783080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特征工程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240280"/>
            <a:ext cx="3337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Alpha158 · Alpha360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估值 + 市场 63 维 + Beta60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中性化 + rank-gauss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2918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173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691640"/>
            <a:ext cx="128016" cy="178308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7830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CV 切分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240280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3 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embargo = 5 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20 天 · seeds [42/2024/7]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97880" y="3547872"/>
            <a:ext cx="411480" cy="411480"/>
          </a:xfrm>
          <a:prstGeom prst="downArrow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330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+ DoubleEnsemble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55371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Alpha158 + 估值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SR+FR 3 轮重加权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434840" y="4069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1330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(AAAI 2024)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617720" y="455371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Alpha158 + 市场 63 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门控 · 股内/股间 attn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21040" y="4069080"/>
            <a:ext cx="3291840" cy="1417320"/>
          </a:xfrm>
          <a:prstGeom prst="roundRect">
            <a:avLst>
              <a:gd name="adj" fmla="val 516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1330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StockMixer (AAAI 2024)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03920" y="4553712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Alpha360 原始 OHLCV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Time/Feature/Stock Mixer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97880" y="5559552"/>
            <a:ext cx="411480" cy="411480"/>
          </a:xfrm>
          <a:prstGeom prst="downArrow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6016752"/>
            <a:ext cx="8531352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6016752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Rank-Blend + 置信度自适应仓位 → output / result.csv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25603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· 三模型集成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横截面 rank 归一 → holdout 单纯形网格搜索最优权重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108960"/>
                <a:gridCol w="38404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输入特征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结构要点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权重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+ DoubleEnsemble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Alpha158 + 估值（中性化）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回归 · SR + FR 3 轮级联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Alpha158 + 市场 63 维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市场门控 → 股内 / 股间 attn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StockMixer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Alpha360 原始 OHLCV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Feature / Stock Mixer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5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4434840"/>
            <a:ext cx="128016" cy="192024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5262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置信度自适应仓位 (D3)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4937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0.4·c_disp  +  0.4·c_ic  +  0.2·c_agree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total_position = 0.5 + α · 0.5 · c         (α = 0.7)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7607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c_disp：Top-K 分散度   |   c_ic：近 20 日 rolling RankIC   |   c_agree：三模型 Top-K 交集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25603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 · 滚动回测 87 天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2025-11-03 ~ 2026-03-13 · 训练数据截止远早于回测窗口，无泄漏</a:t>
            </a:r>
            <a:endParaRPr lang="en-US" sz="1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57607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0749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80160"/>
                <a:gridCol w="109728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我方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动量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平均 5 日收益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中位数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标准差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胜率 (&gt;0)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60.92%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等权胜天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537960" y="47091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显著性检验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720840" y="51206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等权：  t = +4.78,  p &lt; 0.0001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动量：  t = +2.67,  p = 0.009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最佳日 +5.01% (02-13)  ·  最差日 −2.90% (01-27)  ·  平均置信度 0.77，平均仓位 ≈ 0.77  ·  尾部偏正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" cy="256032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&amp; Phase-A Ablation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预算全部达标 · 推荐 Tradable + Cost 为正式提交配置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预算对账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特征工程（一次性）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训练（3×3×3 + refit）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镜像大小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4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Phase-A 对比</a:t>
            </a:r>
            <a:endParaRPr lang="en-US" sz="2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28600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51560"/>
                <a:gridCol w="1051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胜率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+Tradable +Cost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+Dynamic weights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0292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029200"/>
            <a:ext cx="128016" cy="128016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" y="51023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交付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22960" y="5486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+ TA-Lib + uv   |   init.sh / train.sh / test.sh / pipeline.py   |   verify_reproducibility.py 两次 MD5 比对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· 结论与下一步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B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端到端跑通 · 显著跑赢 baseline · Docker 可直接交付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777240" cy="777240"/>
          </a:xfrm>
          <a:prstGeom prst="ellipse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跑赢 Baseline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91640" y="23591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天扣除摩擦 · p &lt; 0.0001 · 超额 ~87 bp / 5 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971800"/>
            <a:ext cx="777240" cy="777240"/>
          </a:xfrm>
          <a:prstGeom prst="ellipse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91640" y="292608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硬约束全达标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3649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6.3 h · 推理 &lt; 3 min · 镜像 ~4 GB · MD5 一致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777240" cy="777240"/>
          </a:xfrm>
          <a:prstGeom prst="ellipse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91640" y="393192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推荐提交配置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43708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Tradable 过滤 + 6 bp 手续费（近零损耗，贴近真实成交）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777240" cy="777240"/>
          </a:xfrm>
          <a:prstGeom prst="ellipse">
            <a:avLst/>
          </a:prstGeom>
          <a:solidFill>
            <a:srgbClr val="E8B14A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983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691640" y="493776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91640" y="53766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回测窗口扩至 150–200 天 · 4060 联调 · Docker 上传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 ·  Q &amp; 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BDC2026 · feat/ensemble-v1 · 2026-04-22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B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BDC2026 阶段性汇报</dc:title>
  <dc:subject>PptxGenJS Presentation</dc:subject>
  <dc:creator>PptxGenJS</dc:creator>
  <cp:lastModifiedBy>PptxGenJS</cp:lastModifiedBy>
  <cp:revision>1</cp:revision>
  <dcterms:created xsi:type="dcterms:W3CDTF">2026-04-22T17:51:59Z</dcterms:created>
  <dcterms:modified xsi:type="dcterms:W3CDTF">2026-04-22T17:51:59Z</dcterms:modified>
</cp:coreProperties>
</file>